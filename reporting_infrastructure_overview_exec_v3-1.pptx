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9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/>
    <p:restoredTop sz="94653"/>
  </p:normalViewPr>
  <p:slideViewPr>
    <p:cSldViewPr snapToGrid="0" snapToObjects="1">
      <p:cViewPr varScale="1">
        <p:scale>
          <a:sx n="146" d="100"/>
          <a:sy n="146" d="100"/>
        </p:scale>
        <p:origin x="97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699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140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3526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965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2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864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636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338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02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359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423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175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52238"/>
                </a:solidFill>
                <a:latin typeface="Aptos Display"/>
              </a:rPr>
              <a:t>Reporting Infrastructure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972800" cy="32004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sz="1200">
                <a:solidFill>
                  <a:srgbClr val="5F6876"/>
                </a:solidFill>
                <a:latin typeface="Aptos"/>
              </a:rPr>
              <a:t>Executive version with architecture, ingestion, enrichment logic, and full lineage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19"/>
            <a:ext cx="10835640" cy="233597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2267B8"/>
            </a:solidFill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400" b="1" dirty="0">
                <a:solidFill>
                  <a:srgbClr val="152238"/>
                </a:solidFill>
                <a:latin typeface="Aptos Display"/>
              </a:rPr>
              <a:t>The reporting stack is centered on </a:t>
            </a:r>
            <a:r>
              <a:rPr sz="2400" b="1" dirty="0" err="1">
                <a:solidFill>
                  <a:srgbClr val="152238"/>
                </a:solidFill>
                <a:latin typeface="Aptos Display"/>
              </a:rPr>
              <a:t>BigQuery</a:t>
            </a:r>
            <a:r>
              <a:rPr sz="2400" b="1" dirty="0">
                <a:solidFill>
                  <a:srgbClr val="152238"/>
                </a:solidFill>
                <a:latin typeface="Aptos Display"/>
              </a:rPr>
              <a:t> as the operational source of truth for analytics.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700">
                <a:solidFill>
                  <a:srgbClr val="152238"/>
                </a:solidFill>
                <a:latin typeface="Aptos"/>
              </a:defRPr>
            </a:pPr>
            <a:r>
              <a:rPr dirty="0"/>
              <a:t>It brings together ad delivery, planning, spreadsheet-based first-party data, and metadata from multiple source systems.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700">
                <a:solidFill>
                  <a:srgbClr val="152238"/>
                </a:solidFill>
                <a:latin typeface="Aptos"/>
              </a:defRPr>
            </a:pPr>
            <a:r>
              <a:rPr dirty="0"/>
              <a:t>Those sources are standardized in reusable SQL layers and published as final reporting tables for dashboards and stakeholder reporting.</a:t>
            </a:r>
          </a:p>
          <a:p>
            <a:pPr marL="285750" indent="-285750">
              <a:buFont typeface="Arial" panose="020B0604020202020204" pitchFamily="34" charset="0"/>
              <a:buChar char="•"/>
              <a:defRPr sz="1700">
                <a:solidFill>
                  <a:srgbClr val="152238"/>
                </a:solidFill>
                <a:latin typeface="Aptos"/>
              </a:defRPr>
            </a:pPr>
            <a:r>
              <a:rPr dirty="0"/>
              <a:t>The two main reporting pipelines highlighted in this deck are ADIF and MFT.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886200"/>
            <a:ext cx="3337560" cy="14173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B87D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52238"/>
                </a:solidFill>
                <a:latin typeface="Aptos Display"/>
              </a:rPr>
              <a:t>Core model</a:t>
            </a:r>
          </a:p>
          <a:p>
            <a:pPr algn="ctr"/>
            <a:r>
              <a:rPr sz="1300">
                <a:solidFill>
                  <a:srgbClr val="152238"/>
                </a:solidFill>
                <a:latin typeface="Aptos"/>
              </a:rPr>
              <a:t>Sources -&gt; BigQuery -&gt; SQL models -&gt; final reporting tables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3886200"/>
            <a:ext cx="3337560" cy="14173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228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52238"/>
                </a:solidFill>
                <a:latin typeface="Aptos Display"/>
              </a:rPr>
              <a:t>Main outputs</a:t>
            </a:r>
          </a:p>
          <a:p>
            <a:pPr algn="ctr"/>
            <a:r>
              <a:rPr sz="1300">
                <a:solidFill>
                  <a:srgbClr val="152238"/>
                </a:solidFill>
                <a:latin typeface="Aptos"/>
              </a:rPr>
              <a:t>ADIF final table and MFT final 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3886200"/>
            <a:ext cx="3337560" cy="14173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5F4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rgbClr val="152238"/>
                </a:solidFill>
                <a:latin typeface="Aptos Display"/>
              </a:rPr>
              <a:t>Visualization Layer</a:t>
            </a:r>
            <a:endParaRPr sz="1800" b="1" dirty="0">
              <a:solidFill>
                <a:srgbClr val="152238"/>
              </a:solidFill>
              <a:latin typeface="Aptos Display"/>
            </a:endParaRPr>
          </a:p>
          <a:p>
            <a:pPr algn="ctr"/>
            <a:r>
              <a:rPr lang="en-US" sz="1300" dirty="0">
                <a:solidFill>
                  <a:srgbClr val="152238"/>
                </a:solidFill>
                <a:latin typeface="Aptos"/>
              </a:rPr>
              <a:t>Looker Studio [free version] reports</a:t>
            </a:r>
            <a:br>
              <a:rPr lang="en-US" sz="1300" dirty="0">
                <a:solidFill>
                  <a:srgbClr val="152238"/>
                </a:solidFill>
                <a:latin typeface="Aptos"/>
              </a:rPr>
            </a:br>
            <a:r>
              <a:rPr lang="en-US" sz="1300" dirty="0">
                <a:solidFill>
                  <a:srgbClr val="152238"/>
                </a:solidFill>
                <a:latin typeface="Aptos"/>
              </a:rPr>
              <a:t>Omni Analytics</a:t>
            </a:r>
            <a:endParaRPr sz="1300" dirty="0">
              <a:solidFill>
                <a:srgbClr val="152238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10972800" cy="1828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876"/>
                </a:solidFill>
                <a:latin typeface="Aptos"/>
              </a:rPr>
              <a:t>Deck assembled from repo documentation and live BigQuery object checks on 2026-04-13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52238"/>
                </a:solidFill>
                <a:latin typeface="Aptos Display"/>
              </a:rPr>
              <a:t>Architecture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F6876"/>
                </a:solidFill>
                <a:latin typeface="Aptos"/>
              </a:rPr>
              <a:t>A business-friendly picture of how data moves through the environment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240280" cy="242316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B87D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52238"/>
                </a:solidFill>
                <a:latin typeface="Aptos Display"/>
              </a:rPr>
              <a:t>Sources</a:t>
            </a:r>
          </a:p>
          <a:p>
            <a:pPr algn="ctr"/>
            <a:r>
              <a:rPr sz="1200">
                <a:solidFill>
                  <a:srgbClr val="152238"/>
                </a:solidFill>
                <a:latin typeface="Aptos"/>
              </a:rPr>
              <a:t>DCM, Basis, Prisma, Google Sheets, Gmail attachments, social platform inputs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828800"/>
            <a:ext cx="2240280" cy="242316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22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52238"/>
                </a:solidFill>
                <a:latin typeface="Aptos Display"/>
              </a:rPr>
              <a:t>Landing Layer</a:t>
            </a:r>
          </a:p>
          <a:p>
            <a:pPr algn="ctr"/>
            <a:r>
              <a:rPr sz="1200">
                <a:solidFill>
                  <a:srgbClr val="152238"/>
                </a:solidFill>
                <a:latin typeface="Aptos"/>
              </a:rPr>
              <a:t>BigQuery landing and shared source tables collect raw or lightly cleaned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2240280" cy="242316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AD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52238"/>
                </a:solidFill>
                <a:latin typeface="Aptos Display"/>
              </a:rPr>
              <a:t>Transformation Layer</a:t>
            </a:r>
          </a:p>
          <a:p>
            <a:pPr algn="ctr"/>
            <a:r>
              <a:rPr sz="1200">
                <a:solidFill>
                  <a:srgbClr val="152238"/>
                </a:solidFill>
                <a:latin typeface="Aptos"/>
              </a:rPr>
              <a:t>Staging views and enrichment logic standardize fields, join metadata, and set reporting rules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1828800"/>
            <a:ext cx="2240280" cy="242316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228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52238"/>
                </a:solidFill>
                <a:latin typeface="Aptos Display"/>
              </a:rPr>
              <a:t>Reporting Layer</a:t>
            </a:r>
          </a:p>
          <a:p>
            <a:pPr algn="ctr"/>
            <a:r>
              <a:rPr sz="1200">
                <a:solidFill>
                  <a:srgbClr val="152238"/>
                </a:solidFill>
                <a:latin typeface="Aptos"/>
              </a:rPr>
              <a:t>Final tables feed dashboards, QA checks, and stakeholder reporting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80360" y="3017520"/>
            <a:ext cx="594360" cy="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15000" y="3017520"/>
            <a:ext cx="594360" cy="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549640" y="3017520"/>
            <a:ext cx="594360" cy="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22960" y="4800600"/>
            <a:ext cx="10561320" cy="9601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22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52238"/>
                </a:solidFill>
                <a:latin typeface="Aptos Display"/>
              </a:rPr>
              <a:t>Best simple explanation: </a:t>
            </a:r>
            <a:r>
              <a:rPr sz="1700">
                <a:solidFill>
                  <a:srgbClr val="152238"/>
                </a:solidFill>
                <a:latin typeface="Aptos"/>
              </a:rPr>
              <a:t>we centralize messy source inputs in BigQuery, apply shared business logic once, and publish stable reporting tables for downstream use.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876"/>
                </a:solidFill>
                <a:latin typeface="Aptos"/>
              </a:rPr>
              <a:t>High-level pattern used across ADIF, MFT, and shared utilities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5F4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52238"/>
                </a:solidFill>
                <a:latin typeface="Aptos Display"/>
              </a:rPr>
              <a:t>Foundational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F6876"/>
                </a:solidFill>
                <a:latin typeface="Aptos"/>
              </a:rPr>
              <a:t>The core planning, tracking, partner-input, and modeling layers that support reporting across clients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45920"/>
            <a:ext cx="5166360" cy="1645920"/>
          </a:xfrm>
          <a:prstGeom prst="roundRect">
            <a:avLst/>
          </a:prstGeom>
          <a:solidFill>
            <a:srgbClr val="E1EEFC"/>
          </a:solidFill>
          <a:ln>
            <a:solidFill>
              <a:srgbClr val="22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000" b="1" dirty="0">
                <a:solidFill>
                  <a:srgbClr val="152238"/>
                </a:solidFill>
                <a:latin typeface="Aptos Display"/>
              </a:rPr>
              <a:t>Prisma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500" dirty="0">
                <a:solidFill>
                  <a:srgbClr val="152238"/>
                </a:solidFill>
                <a:latin typeface="Aptos"/>
              </a:rPr>
              <a:t>Defines the </a:t>
            </a:r>
            <a:r>
              <a:rPr sz="1500" b="1" dirty="0">
                <a:solidFill>
                  <a:srgbClr val="152238"/>
                </a:solidFill>
                <a:latin typeface="Aptos"/>
              </a:rPr>
              <a:t>planning </a:t>
            </a:r>
            <a:r>
              <a:rPr lang="en-US" sz="1500" b="1" dirty="0">
                <a:solidFill>
                  <a:srgbClr val="152238"/>
                </a:solidFill>
                <a:latin typeface="Aptos"/>
              </a:rPr>
              <a:t>source of truth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52238"/>
                </a:solidFill>
                <a:latin typeface="Aptos"/>
              </a:rPr>
              <a:t>Defines &amp; Enforces placement/package naming convention</a:t>
            </a:r>
            <a:r>
              <a:rPr sz="1500" dirty="0">
                <a:solidFill>
                  <a:srgbClr val="152238"/>
                </a:solidFill>
                <a:latin typeface="Aptos"/>
              </a:rPr>
              <a:t> </a:t>
            </a:r>
            <a:endParaRPr lang="en-US" sz="1500" dirty="0">
              <a:solidFill>
                <a:srgbClr val="152238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500" dirty="0">
                <a:solidFill>
                  <a:srgbClr val="152238"/>
                </a:solidFill>
                <a:latin typeface="Aptos"/>
              </a:rPr>
              <a:t>dates, campaign structure, and planned delivery expectations.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5166360" cy="1645920"/>
          </a:xfrm>
          <a:prstGeom prst="roundRect">
            <a:avLst/>
          </a:prstGeom>
          <a:solidFill>
            <a:srgbClr val="F8EFDF"/>
          </a:solidFill>
          <a:ln>
            <a:solidFill>
              <a:srgbClr val="B87D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000" b="1" dirty="0">
                <a:solidFill>
                  <a:srgbClr val="152238"/>
                </a:solidFill>
                <a:latin typeface="Aptos Display"/>
              </a:rPr>
              <a:t>Custom Trafficking Doc</a:t>
            </a:r>
          </a:p>
          <a:p>
            <a:pPr algn="l"/>
            <a:r>
              <a:rPr lang="en-US" sz="1500" dirty="0">
                <a:solidFill>
                  <a:srgbClr val="152238"/>
                </a:solidFill>
                <a:latin typeface="Aptos"/>
              </a:rPr>
              <a:t>Auto-builds trafficking doc (with UTM parms) from </a:t>
            </a:r>
            <a:r>
              <a:rPr lang="en-US" sz="1500" dirty="0" err="1">
                <a:solidFill>
                  <a:srgbClr val="152238"/>
                </a:solidFill>
                <a:latin typeface="Aptos"/>
              </a:rPr>
              <a:t>prisma</a:t>
            </a:r>
            <a:r>
              <a:rPr lang="en-US" sz="1500" dirty="0">
                <a:solidFill>
                  <a:srgbClr val="152238"/>
                </a:solidFill>
                <a:latin typeface="Aptos"/>
              </a:rPr>
              <a:t> data</a:t>
            </a:r>
            <a:endParaRPr sz="1500" dirty="0">
              <a:solidFill>
                <a:srgbClr val="152238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77240" y="3703320"/>
            <a:ext cx="5166360" cy="1645920"/>
          </a:xfrm>
          <a:prstGeom prst="roundRect">
            <a:avLst/>
          </a:prstGeom>
          <a:solidFill>
            <a:srgbClr val="E2F5ED"/>
          </a:solidFill>
          <a:ln>
            <a:solidFill>
              <a:srgbClr val="228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000" b="1">
                <a:solidFill>
                  <a:srgbClr val="152238"/>
                </a:solidFill>
                <a:latin typeface="Aptos Display"/>
              </a:rPr>
              <a:t>First-Party Data Template</a:t>
            </a:r>
          </a:p>
          <a:p>
            <a:pPr algn="l"/>
            <a:r>
              <a:rPr sz="1500">
                <a:solidFill>
                  <a:srgbClr val="152238"/>
                </a:solidFill>
                <a:latin typeface="Aptos"/>
              </a:rPr>
              <a:t>Standardizes partner or client-reported performance inputs so they can be integrated into warehouse reporting.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703320"/>
            <a:ext cx="5166360" cy="1645920"/>
          </a:xfrm>
          <a:prstGeom prst="roundRect">
            <a:avLst/>
          </a:prstGeom>
          <a:solidFill>
            <a:srgbClr val="EBE7FB"/>
          </a:solidFill>
          <a:ln>
            <a:solidFill>
              <a:srgbClr val="5F4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000" b="1">
                <a:solidFill>
                  <a:srgbClr val="152238"/>
                </a:solidFill>
                <a:latin typeface="Aptos Display"/>
              </a:rPr>
              <a:t>Data Model Logic</a:t>
            </a:r>
          </a:p>
          <a:p>
            <a:pPr algn="l"/>
            <a:r>
              <a:rPr sz="1500">
                <a:solidFill>
                  <a:srgbClr val="152238"/>
                </a:solidFill>
                <a:latin typeface="Aptos"/>
              </a:rPr>
              <a:t>Applies the joining, prioritization, and transformation rules that turn raw inputs into reporting-ready outputs.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715000"/>
            <a:ext cx="10469880" cy="438912"/>
          </a:xfrm>
          <a:prstGeom prst="roundRect">
            <a:avLst/>
          </a:prstGeom>
          <a:solidFill>
            <a:srgbClr val="F7F9FC"/>
          </a:solidFill>
          <a:ln>
            <a:solidFill>
              <a:srgbClr val="5F4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52238"/>
                </a:solidFill>
                <a:latin typeface="Aptos"/>
              </a:rPr>
              <a:t>Why this matters: these pieces are what make the downstream reporting tables reliable, explainable, and reusable across client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876"/>
                </a:solidFill>
                <a:latin typeface="Aptos"/>
              </a:rPr>
              <a:t>Use this slide before ingestion and lineage to explain the system foundations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52238"/>
                </a:solidFill>
                <a:latin typeface="Aptos Display"/>
              </a:rPr>
              <a:t>Raw Data Ingestion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972800" cy="3200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>
            <a:spAutoFit/>
          </a:bodyPr>
          <a:lstStyle/>
          <a:p>
            <a:r>
              <a:rPr sz="1200">
                <a:solidFill>
                  <a:srgbClr val="5F6876"/>
                </a:solidFill>
                <a:latin typeface="Aptos"/>
              </a:rPr>
              <a:t>High-level view of how source data gets into BigQuery before reporting logic is applied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754880" cy="74980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B87D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52238"/>
                </a:solidFill>
                <a:latin typeface="Aptos Display"/>
              </a:rPr>
              <a:t>1. Source discovery</a:t>
            </a:r>
          </a:p>
          <a:p>
            <a:pPr algn="ctr"/>
            <a:r>
              <a:rPr sz="1100">
                <a:solidFill>
                  <a:srgbClr val="152238"/>
                </a:solidFill>
                <a:latin typeface="Aptos"/>
              </a:rPr>
              <a:t>Find source files or source tables from Gmail, Google Sheets, ad platforms, or planning data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54680" y="2350008"/>
            <a:ext cx="0" cy="27432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77240" y="2624328"/>
            <a:ext cx="4754880" cy="74980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22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52238"/>
                </a:solidFill>
                <a:latin typeface="Aptos Display"/>
              </a:rPr>
              <a:t>2. File intake</a:t>
            </a:r>
          </a:p>
          <a:p>
            <a:pPr algn="ctr"/>
            <a:r>
              <a:rPr sz="1100">
                <a:solidFill>
                  <a:srgbClr val="152238"/>
                </a:solidFill>
                <a:latin typeface="Aptos"/>
              </a:rPr>
              <a:t>Download or read the newest file, tab, or source object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54680" y="3374136"/>
            <a:ext cx="0" cy="27432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77240" y="3648456"/>
            <a:ext cx="4754880" cy="74980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AD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52238"/>
                </a:solidFill>
                <a:latin typeface="Aptos Display"/>
              </a:rPr>
              <a:t>3. Standardization</a:t>
            </a:r>
          </a:p>
          <a:p>
            <a:pPr algn="ctr"/>
            <a:r>
              <a:rPr sz="1100">
                <a:solidFill>
                  <a:srgbClr val="152238"/>
                </a:solidFill>
                <a:latin typeface="Aptos"/>
              </a:rPr>
              <a:t>Clean headers, map source-specific fields into a consistent schema, and add refresh metadata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54680" y="4398264"/>
            <a:ext cx="0" cy="27432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77240" y="4672584"/>
            <a:ext cx="4754880" cy="74980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228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52238"/>
                </a:solidFill>
                <a:latin typeface="Aptos Display"/>
              </a:rPr>
              <a:t>4. Warehouse load</a:t>
            </a:r>
          </a:p>
          <a:p>
            <a:pPr algn="ctr"/>
            <a:r>
              <a:rPr sz="1100">
                <a:solidFill>
                  <a:srgbClr val="152238"/>
                </a:solidFill>
                <a:latin typeface="Aptos"/>
              </a:rPr>
              <a:t>Write the result into landing tables in BigQuery, usually as a full refresh for the target object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1355834"/>
            <a:ext cx="5440680" cy="477064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22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152238"/>
                </a:solidFill>
                <a:latin typeface="Aptos Display"/>
              </a:rPr>
              <a:t>Concrete examples</a:t>
            </a:r>
          </a:p>
          <a:p>
            <a:pPr marL="285750" indent="-285750">
              <a:buFont typeface="Arial" panose="020B0604020202020204" pitchFamily="34" charset="0"/>
              <a:buChar char="•"/>
              <a:defRPr sz="1500">
                <a:solidFill>
                  <a:srgbClr val="152238"/>
                </a:solidFill>
                <a:latin typeface="Aptos"/>
              </a:defRPr>
            </a:pPr>
            <a:r>
              <a:rPr sz="1200" dirty="0"/>
              <a:t>TV estimate loaders search Gmail for the newest CSV attachment</a:t>
            </a:r>
            <a:r>
              <a:rPr lang="en-US" sz="1200" dirty="0"/>
              <a:t> from Prisma</a:t>
            </a:r>
            <a:r>
              <a:rPr sz="1200" dirty="0"/>
              <a:t>, reshape it to one standard schema, and replace </a:t>
            </a:r>
            <a:r>
              <a:rPr sz="1200" dirty="0" err="1"/>
              <a:t>landing.tv_local_estimates</a:t>
            </a:r>
            <a:r>
              <a:rPr sz="1200" dirty="0"/>
              <a:t> or </a:t>
            </a:r>
            <a:r>
              <a:rPr sz="1200" dirty="0" err="1"/>
              <a:t>landing.tv_national_estimates</a:t>
            </a:r>
            <a:r>
              <a:rPr sz="1200" dirty="0"/>
              <a:t>.</a:t>
            </a:r>
            <a:endParaRPr lang="en-US" sz="1200" dirty="0"/>
          </a:p>
          <a:p>
            <a:pPr>
              <a:defRPr sz="1500">
                <a:solidFill>
                  <a:srgbClr val="152238"/>
                </a:solidFill>
                <a:latin typeface="Aptos"/>
              </a:defRPr>
            </a:pPr>
            <a:endParaRPr sz="1200" dirty="0"/>
          </a:p>
          <a:p>
            <a:pPr marL="285750" indent="-285750">
              <a:buFont typeface="Arial" panose="020B0604020202020204" pitchFamily="34" charset="0"/>
              <a:buChar char="•"/>
              <a:defRPr sz="1500">
                <a:solidFill>
                  <a:srgbClr val="152238"/>
                </a:solidFill>
                <a:latin typeface="Aptos"/>
              </a:defRPr>
            </a:pPr>
            <a:r>
              <a:rPr sz="1200" dirty="0"/>
              <a:t>The FPD loader reads partner Google Sheets, normalizes inconsistent headers across many files, expands date ranges to daily rows, and writes to landing first-party tables.</a:t>
            </a:r>
            <a:endParaRPr lang="en-US" sz="1200" dirty="0"/>
          </a:p>
          <a:p>
            <a:pPr>
              <a:defRPr sz="1500">
                <a:solidFill>
                  <a:srgbClr val="152238"/>
                </a:solidFill>
                <a:latin typeface="Aptos"/>
              </a:defRPr>
            </a:pPr>
            <a:endParaRPr sz="1200" dirty="0"/>
          </a:p>
          <a:p>
            <a:pPr marL="285750" indent="-285750">
              <a:buFont typeface="Arial" panose="020B0604020202020204" pitchFamily="34" charset="0"/>
              <a:buChar char="•"/>
              <a:defRPr sz="1500">
                <a:solidFill>
                  <a:srgbClr val="152238"/>
                </a:solidFill>
                <a:latin typeface="Aptos"/>
              </a:defRPr>
            </a:pPr>
            <a:r>
              <a:rPr sz="1200" dirty="0"/>
              <a:t>Updated FPD processing reads corrected package totals from a Google Sheet, uses Prisma date ranges to spread them into daily rows, and uploads </a:t>
            </a:r>
            <a:r>
              <a:rPr sz="1200" dirty="0" err="1"/>
              <a:t>landing.adif_updated_fpd_daily</a:t>
            </a:r>
            <a:r>
              <a:rPr sz="1200" dirty="0"/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5120640"/>
            <a:ext cx="5074920" cy="59436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22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52238"/>
                </a:solidFill>
                <a:latin typeface="Aptos"/>
              </a:rPr>
              <a:t>Theme: ingestion is designed to convert inconsistent operational inputs into consistent landing tables.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10972800" cy="1828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876"/>
                </a:solidFill>
                <a:latin typeface="Aptos"/>
              </a:rPr>
              <a:t>Examples drawn from util/data_loaders and FPD loader documentation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D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52238"/>
                </a:solidFill>
                <a:latin typeface="Aptos Display"/>
              </a:rPr>
              <a:t>Enrichment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F6876"/>
                </a:solidFill>
                <a:latin typeface="Aptos"/>
              </a:rPr>
              <a:t>How raw inputs become business-ready reporting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2834640" cy="38404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22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 dirty="0">
                <a:solidFill>
                  <a:srgbClr val="152238"/>
                </a:solidFill>
                <a:latin typeface="Aptos Display"/>
              </a:rPr>
              <a:t>Join and align</a:t>
            </a:r>
          </a:p>
          <a:p>
            <a:pPr>
              <a:defRPr sz="1500">
                <a:solidFill>
                  <a:srgbClr val="152238"/>
                </a:solidFill>
                <a:latin typeface="Aptos"/>
              </a:defRPr>
            </a:pPr>
            <a:r>
              <a:rPr dirty="0"/>
              <a:t>Add planning metadata to delivery data</a:t>
            </a:r>
          </a:p>
          <a:p>
            <a:pPr>
              <a:defRPr sz="1500">
                <a:solidFill>
                  <a:srgbClr val="152238"/>
                </a:solidFill>
                <a:latin typeface="Aptos"/>
              </a:defRPr>
            </a:pPr>
            <a:r>
              <a:rPr dirty="0"/>
              <a:t>Match UTMs to DCM rows</a:t>
            </a:r>
          </a:p>
          <a:p>
            <a:pPr>
              <a:defRPr sz="1500">
                <a:solidFill>
                  <a:srgbClr val="152238"/>
                </a:solidFill>
                <a:latin typeface="Aptos"/>
              </a:defRPr>
            </a:pPr>
            <a:r>
              <a:rPr dirty="0"/>
              <a:t>Attach corrected FPD to existing digital views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9080" y="1645920"/>
            <a:ext cx="2834640" cy="38404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B87D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152238"/>
                </a:solidFill>
                <a:latin typeface="Aptos Display"/>
              </a:rPr>
              <a:t>Apply business rules</a:t>
            </a:r>
          </a:p>
          <a:p>
            <a:pPr>
              <a:defRPr sz="1500">
                <a:solidFill>
                  <a:srgbClr val="152238"/>
                </a:solidFill>
                <a:latin typeface="Aptos"/>
              </a:defRPr>
            </a:pPr>
            <a:r>
              <a:t>Set source priority when multiple actuals exist</a:t>
            </a:r>
          </a:p>
          <a:p>
            <a:pPr>
              <a:defRPr sz="1500">
                <a:solidFill>
                  <a:srgbClr val="152238"/>
                </a:solidFill>
                <a:latin typeface="Aptos"/>
              </a:defRPr>
            </a:pPr>
            <a:r>
              <a:t>Preserve orphan rows with outer joins where needed</a:t>
            </a:r>
          </a:p>
          <a:p>
            <a:pPr>
              <a:defRPr sz="1500">
                <a:solidFill>
                  <a:srgbClr val="152238"/>
                </a:solidFill>
                <a:latin typeface="Aptos"/>
              </a:defRPr>
            </a:pPr>
            <a:r>
              <a:t>Recalculate final metrics after enrichment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645920"/>
            <a:ext cx="2834640" cy="38404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228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152238"/>
                </a:solidFill>
                <a:latin typeface="Aptos Display"/>
              </a:rPr>
              <a:t>Publish stable outputs</a:t>
            </a:r>
          </a:p>
          <a:p>
            <a:pPr>
              <a:defRPr sz="1500">
                <a:solidFill>
                  <a:srgbClr val="152238"/>
                </a:solidFill>
                <a:latin typeface="Aptos"/>
              </a:defRPr>
            </a:pPr>
            <a:r>
              <a:t>Keep reusable staging views</a:t>
            </a:r>
          </a:p>
          <a:p>
            <a:pPr>
              <a:defRPr sz="1500">
                <a:solidFill>
                  <a:srgbClr val="152238"/>
                </a:solidFill>
                <a:latin typeface="Aptos"/>
              </a:defRPr>
            </a:pPr>
            <a:r>
              <a:t>Build final reporting tables on a schedule</a:t>
            </a:r>
          </a:p>
          <a:p>
            <a:pPr>
              <a:defRPr sz="1500">
                <a:solidFill>
                  <a:srgbClr val="152238"/>
                </a:solidFill>
                <a:latin typeface="Aptos"/>
              </a:defRPr>
            </a:pPr>
            <a:r>
              <a:t>Use final tables as dashboard endpoints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669280"/>
            <a:ext cx="104241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AD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52238"/>
                </a:solidFill>
                <a:latin typeface="Aptos Display"/>
              </a:rPr>
              <a:t>Example rule worth mentioning: </a:t>
            </a:r>
            <a:r>
              <a:rPr sz="1400">
                <a:solidFill>
                  <a:srgbClr val="152238"/>
                </a:solidFill>
                <a:latin typeface="Aptos"/>
              </a:rPr>
              <a:t>in ADIF, actuals priority is updated FPD first, then original FPD, then DCM, and finally planned-only Prisma rows if no actuals exist.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876"/>
                </a:solidFill>
                <a:latin typeface="Aptos"/>
              </a:rPr>
              <a:t>This slide explains the “business logic layer” in plain English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2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52238"/>
                </a:solidFill>
                <a:latin typeface="Aptos Display"/>
              </a:rPr>
              <a:t>ADIF Full Lineage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F6876"/>
                </a:solidFill>
                <a:latin typeface="Aptos"/>
              </a:rPr>
              <a:t>End-to-end flow from raw source tables to the live ADIF reporting 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2148840" cy="749808"/>
          </a:xfrm>
          <a:prstGeom prst="roundRect">
            <a:avLst/>
          </a:prstGeom>
          <a:solidFill>
            <a:srgbClr val="F8EFDF"/>
          </a:solidFill>
          <a:ln>
            <a:solidFill>
              <a:srgbClr val="B87D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152238"/>
                </a:solidFill>
                <a:latin typeface="Aptos Display"/>
              </a:rPr>
              <a:t>Modeled </a:t>
            </a:r>
            <a:r>
              <a:rPr sz="1400" b="1" dirty="0">
                <a:solidFill>
                  <a:srgbClr val="152238"/>
                </a:solidFill>
                <a:latin typeface="Aptos Display"/>
              </a:rPr>
              <a:t>DCM </a:t>
            </a:r>
            <a:r>
              <a:rPr sz="900" dirty="0">
                <a:solidFill>
                  <a:srgbClr val="152238"/>
                </a:solidFill>
                <a:latin typeface="Aptos"/>
              </a:rPr>
              <a:t>DCM.20250505_costModel_v5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417320"/>
            <a:ext cx="2240280" cy="749808"/>
          </a:xfrm>
          <a:prstGeom prst="roundRect">
            <a:avLst/>
          </a:prstGeom>
          <a:solidFill>
            <a:srgbClr val="F8EFDF"/>
          </a:solidFill>
          <a:ln>
            <a:solidFill>
              <a:srgbClr val="B87D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152238"/>
                </a:solidFill>
                <a:latin typeface="Aptos Display"/>
              </a:rPr>
              <a:t>First Party Data</a:t>
            </a:r>
            <a:endParaRPr sz="1400" b="1" dirty="0">
              <a:solidFill>
                <a:srgbClr val="152238"/>
              </a:solidFill>
              <a:latin typeface="Aptos Display"/>
            </a:endParaRPr>
          </a:p>
          <a:p>
            <a:pPr algn="ctr"/>
            <a:r>
              <a:rPr sz="700" dirty="0" err="1">
                <a:solidFill>
                  <a:srgbClr val="152238"/>
                </a:solidFill>
                <a:latin typeface="Aptos"/>
              </a:rPr>
              <a:t>landing.fpd_data_ranged_shortcutsFolder</a:t>
            </a:r>
            <a:endParaRPr sz="700" dirty="0">
              <a:solidFill>
                <a:srgbClr val="152238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212080" y="1417320"/>
            <a:ext cx="2148840" cy="749808"/>
          </a:xfrm>
          <a:prstGeom prst="roundRect">
            <a:avLst/>
          </a:prstGeom>
          <a:solidFill>
            <a:srgbClr val="F8EFDF"/>
          </a:solidFill>
          <a:ln>
            <a:solidFill>
              <a:srgbClr val="B87D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dirty="0">
                <a:solidFill>
                  <a:srgbClr val="152238"/>
                </a:solidFill>
                <a:latin typeface="Aptos Display"/>
              </a:rPr>
              <a:t>Prisma</a:t>
            </a:r>
          </a:p>
          <a:p>
            <a:pPr algn="ctr"/>
            <a:r>
              <a:rPr sz="700" dirty="0">
                <a:solidFill>
                  <a:srgbClr val="152238"/>
                </a:solidFill>
                <a:latin typeface="Aptos"/>
              </a:rPr>
              <a:t>20250327_data_model.prisma_expanded_full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417320"/>
            <a:ext cx="2240280" cy="749808"/>
          </a:xfrm>
          <a:prstGeom prst="roundRect">
            <a:avLst/>
          </a:prstGeom>
          <a:solidFill>
            <a:srgbClr val="E1EEFC"/>
          </a:solidFill>
          <a:ln>
            <a:solidFill>
              <a:srgbClr val="22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152238"/>
                </a:solidFill>
                <a:latin typeface="Aptos Display"/>
              </a:rPr>
              <a:t>Manually Edited Data</a:t>
            </a:r>
            <a:endParaRPr sz="1400" b="1" dirty="0">
              <a:solidFill>
                <a:srgbClr val="152238"/>
              </a:solidFill>
              <a:latin typeface="Aptos Display"/>
            </a:endParaRPr>
          </a:p>
          <a:p>
            <a:pPr algn="ctr"/>
            <a:r>
              <a:rPr sz="900" dirty="0" err="1">
                <a:solidFill>
                  <a:srgbClr val="152238"/>
                </a:solidFill>
                <a:latin typeface="Aptos"/>
              </a:rPr>
              <a:t>landing.adif_updated_fpd_daily</a:t>
            </a:r>
            <a:endParaRPr sz="900" dirty="0">
              <a:solidFill>
                <a:srgbClr val="152238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0012680" y="1417320"/>
            <a:ext cx="1783080" cy="749808"/>
          </a:xfrm>
          <a:prstGeom prst="roundRect">
            <a:avLst/>
          </a:prstGeom>
          <a:solidFill>
            <a:srgbClr val="EBE7FB"/>
          </a:solidFill>
          <a:ln>
            <a:solidFill>
              <a:srgbClr val="5F4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dirty="0">
                <a:solidFill>
                  <a:srgbClr val="152238"/>
                </a:solidFill>
                <a:latin typeface="Aptos Display"/>
              </a:rPr>
              <a:t>Social + pacing</a:t>
            </a:r>
          </a:p>
          <a:p>
            <a:pPr algn="ctr"/>
            <a:r>
              <a:rPr sz="700" dirty="0">
                <a:solidFill>
                  <a:srgbClr val="152238"/>
                </a:solidFill>
                <a:latin typeface="Aptos"/>
              </a:rPr>
              <a:t>stg__</a:t>
            </a:r>
            <a:r>
              <a:rPr sz="700" dirty="0" err="1">
                <a:solidFill>
                  <a:srgbClr val="152238"/>
                </a:solidFill>
                <a:latin typeface="Aptos"/>
              </a:rPr>
              <a:t>adif</a:t>
            </a:r>
            <a:r>
              <a:rPr sz="700" dirty="0">
                <a:solidFill>
                  <a:srgbClr val="152238"/>
                </a:solidFill>
                <a:latin typeface="Aptos"/>
              </a:rPr>
              <a:t>__</a:t>
            </a:r>
            <a:r>
              <a:rPr sz="700" dirty="0" err="1">
                <a:solidFill>
                  <a:srgbClr val="152238"/>
                </a:solidFill>
                <a:latin typeface="Aptos"/>
              </a:rPr>
              <a:t>social_crossplatform</a:t>
            </a:r>
            <a:r>
              <a:rPr sz="700" dirty="0">
                <a:solidFill>
                  <a:srgbClr val="152238"/>
                </a:solidFill>
                <a:latin typeface="Aptos"/>
              </a:rPr>
              <a:t>
</a:t>
            </a:r>
            <a:r>
              <a:rPr sz="700" dirty="0" err="1">
                <a:solidFill>
                  <a:srgbClr val="152238"/>
                </a:solidFill>
                <a:latin typeface="Aptos"/>
              </a:rPr>
              <a:t>repo_int.crossplatform_pacing</a:t>
            </a:r>
            <a:endParaRPr sz="700" dirty="0">
              <a:solidFill>
                <a:srgbClr val="152238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920240" y="2743200"/>
            <a:ext cx="3749039" cy="868680"/>
          </a:xfrm>
          <a:prstGeom prst="roundRect">
            <a:avLst/>
          </a:prstGeom>
          <a:solidFill>
            <a:srgbClr val="FCEBEB"/>
          </a:solidFill>
          <a:ln>
            <a:solidFill>
              <a:srgbClr val="AD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dirty="0">
                <a:solidFill>
                  <a:srgbClr val="152238"/>
                </a:solidFill>
                <a:latin typeface="Aptos Display"/>
              </a:rPr>
              <a:t>Digital base view</a:t>
            </a:r>
          </a:p>
          <a:p>
            <a:pPr algn="ctr"/>
            <a:r>
              <a:rPr sz="800" dirty="0">
                <a:solidFill>
                  <a:srgbClr val="152238"/>
                </a:solidFill>
                <a:latin typeface="Aptos"/>
              </a:rPr>
              <a:t>repo_stg.adif__prisma_expanded_plus_dcm_view_v3_test
Combines DCM + original FPD + Prisma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4069080"/>
            <a:ext cx="3840480" cy="868680"/>
          </a:xfrm>
          <a:prstGeom prst="roundRect">
            <a:avLst/>
          </a:prstGeom>
          <a:solidFill>
            <a:srgbClr val="E1EEFC"/>
          </a:solidFill>
          <a:ln>
            <a:solidFill>
              <a:srgbClr val="22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dirty="0">
                <a:solidFill>
                  <a:srgbClr val="152238"/>
                </a:solidFill>
                <a:latin typeface="Aptos Display"/>
              </a:rPr>
              <a:t>Updated digital base view</a:t>
            </a:r>
          </a:p>
          <a:p>
            <a:pPr algn="ctr"/>
            <a:r>
              <a:rPr sz="900" dirty="0">
                <a:solidFill>
                  <a:srgbClr val="152238"/>
                </a:solidFill>
                <a:latin typeface="Aptos"/>
              </a:rPr>
              <a:t>repo_stg.</a:t>
            </a:r>
            <a:r>
              <a:rPr sz="900" dirty="0" err="1">
                <a:solidFill>
                  <a:srgbClr val="152238"/>
                </a:solidFill>
                <a:latin typeface="Aptos"/>
              </a:rPr>
              <a:t>adif</a:t>
            </a:r>
            <a:r>
              <a:rPr sz="900" dirty="0">
                <a:solidFill>
                  <a:srgbClr val="152238"/>
                </a:solidFill>
                <a:latin typeface="Aptos"/>
              </a:rPr>
              <a:t>__</a:t>
            </a:r>
            <a:r>
              <a:rPr sz="900" dirty="0" err="1">
                <a:solidFill>
                  <a:srgbClr val="152238"/>
                </a:solidFill>
                <a:latin typeface="Aptos"/>
              </a:rPr>
              <a:t>prisma_expanded_plus_dcm_updated_fpd_view</a:t>
            </a:r>
            <a:r>
              <a:rPr sz="900" dirty="0">
                <a:solidFill>
                  <a:srgbClr val="152238"/>
                </a:solidFill>
                <a:latin typeface="Aptos"/>
              </a:rPr>
              <a:t>
Adds updated FPD and recalculates final actuals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5440680"/>
            <a:ext cx="3840480" cy="868680"/>
          </a:xfrm>
          <a:prstGeom prst="roundRect">
            <a:avLst/>
          </a:prstGeom>
          <a:solidFill>
            <a:srgbClr val="E2F5ED"/>
          </a:solidFill>
          <a:ln>
            <a:solidFill>
              <a:srgbClr val="228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dirty="0">
                <a:solidFill>
                  <a:srgbClr val="152238"/>
                </a:solidFill>
                <a:latin typeface="Aptos Display"/>
              </a:rPr>
              <a:t>Final ADIF reporting table</a:t>
            </a:r>
          </a:p>
          <a:p>
            <a:pPr algn="ctr"/>
            <a:r>
              <a:rPr sz="1000" dirty="0">
                <a:solidFill>
                  <a:srgbClr val="152238"/>
                </a:solidFill>
                <a:latin typeface="Aptos"/>
              </a:rPr>
              <a:t>repo_stg.adif__mainDataTable_notebook_v2_test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63040" y="2167128"/>
            <a:ext cx="2331720" cy="576072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794760" y="2167128"/>
            <a:ext cx="45720" cy="576072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794760" y="2167128"/>
            <a:ext cx="2514600" cy="576072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5669280" y="2167128"/>
            <a:ext cx="3017520" cy="1901952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7498079" y="2167128"/>
            <a:ext cx="3383281" cy="3273552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669280" y="3611880"/>
            <a:ext cx="0" cy="45720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669280" y="4937760"/>
            <a:ext cx="0" cy="50292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01000" y="5486400"/>
            <a:ext cx="3383280" cy="758952"/>
          </a:xfrm>
          <a:prstGeom prst="roundRect">
            <a:avLst/>
          </a:prstGeom>
          <a:solidFill>
            <a:srgbClr val="F7F9FC"/>
          </a:solidFill>
          <a:ln>
            <a:solidFill>
              <a:srgbClr val="B87D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52238"/>
                </a:solidFill>
                <a:latin typeface="Aptos"/>
              </a:defRPr>
            </a:pPr>
            <a:r>
              <a:rPr dirty="0"/>
              <a:t>Business rule: </a:t>
            </a:r>
            <a:r>
              <a:rPr lang="en-US" dirty="0"/>
              <a:t>Manually Updated </a:t>
            </a:r>
            <a:r>
              <a:rPr dirty="0"/>
              <a:t>-&gt; original FPD -&gt; </a:t>
            </a:r>
            <a:r>
              <a:rPr lang="en-US" dirty="0"/>
              <a:t>Platform Data</a:t>
            </a:r>
            <a:r>
              <a:rPr dirty="0"/>
              <a:t> -&gt; planned-only fallback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0080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876"/>
                </a:solidFill>
                <a:latin typeface="Aptos"/>
              </a:rPr>
              <a:t>Current production target documented as repo_stg.adif__mainDataTable_notebook_v2_test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2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52238"/>
                </a:solidFill>
                <a:latin typeface="Aptos Display"/>
              </a:rPr>
              <a:t>MFT Full Lineage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F6876"/>
                </a:solidFill>
                <a:latin typeface="Aptos"/>
              </a:rPr>
              <a:t>End-to-end path from DCM, Basis, and UTM inputs to the final MFT reporting 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2240280" cy="822960"/>
          </a:xfrm>
          <a:prstGeom prst="roundRect">
            <a:avLst/>
          </a:prstGeom>
          <a:solidFill>
            <a:srgbClr val="F8EFDF"/>
          </a:solidFill>
          <a:ln>
            <a:solidFill>
              <a:srgbClr val="B87D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52238"/>
                </a:solidFill>
                <a:latin typeface="Aptos Display"/>
              </a:rPr>
              <a:t>DCM delivery source</a:t>
            </a:r>
          </a:p>
          <a:p>
            <a:pPr algn="ctr"/>
            <a:r>
              <a:rPr sz="1000">
                <a:solidFill>
                  <a:srgbClr val="152238"/>
                </a:solidFill>
                <a:latin typeface="Aptos"/>
              </a:rPr>
              <a:t>DCM.20250505_costModel_v5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325880"/>
            <a:ext cx="2240280" cy="822960"/>
          </a:xfrm>
          <a:prstGeom prst="roundRect">
            <a:avLst/>
          </a:prstGeom>
          <a:solidFill>
            <a:srgbClr val="E1EEFC"/>
          </a:solidFill>
          <a:ln>
            <a:solidFill>
              <a:srgbClr val="22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52238"/>
                </a:solidFill>
                <a:latin typeface="Aptos Display"/>
              </a:rPr>
              <a:t>UTM source</a:t>
            </a:r>
          </a:p>
          <a:p>
            <a:pPr algn="ctr"/>
            <a:r>
              <a:rPr sz="1000">
                <a:solidFill>
                  <a:srgbClr val="152238"/>
                </a:solidFill>
                <a:latin typeface="Aptos"/>
              </a:rPr>
              <a:t>landing.adswerve_utms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49240" y="1325880"/>
            <a:ext cx="2331720" cy="822960"/>
          </a:xfrm>
          <a:prstGeom prst="roundRect">
            <a:avLst/>
          </a:prstGeom>
          <a:solidFill>
            <a:srgbClr val="F8EFDF"/>
          </a:solidFill>
          <a:ln>
            <a:solidFill>
              <a:srgbClr val="B87D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52238"/>
                </a:solidFill>
                <a:latin typeface="Aptos Display"/>
              </a:rPr>
              <a:t>Basis delivery source</a:t>
            </a:r>
          </a:p>
          <a:p>
            <a:pPr algn="ctr"/>
            <a:r>
              <a:rPr sz="1000">
                <a:solidFill>
                  <a:srgbClr val="152238"/>
                </a:solidFill>
                <a:latin typeface="Aptos"/>
              </a:rPr>
              <a:t>basis_master2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325880"/>
            <a:ext cx="1874519" cy="822960"/>
          </a:xfrm>
          <a:prstGeom prst="roundRect">
            <a:avLst/>
          </a:prstGeom>
          <a:solidFill>
            <a:srgbClr val="E1EEFC"/>
          </a:solidFill>
          <a:ln>
            <a:solidFill>
              <a:srgbClr val="22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52238"/>
                </a:solidFill>
                <a:latin typeface="Aptos Display"/>
              </a:rPr>
              <a:t>Basis UTM set</a:t>
            </a:r>
          </a:p>
          <a:p>
            <a:pPr algn="ctr"/>
            <a:r>
              <a:rPr sz="1000">
                <a:solidFill>
                  <a:srgbClr val="152238"/>
                </a:solidFill>
                <a:latin typeface="Aptos"/>
              </a:rPr>
              <a:t>utm_scrap + manual uploads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12680" y="1325880"/>
            <a:ext cx="1645920" cy="822960"/>
          </a:xfrm>
          <a:prstGeom prst="roundRect">
            <a:avLst/>
          </a:prstGeom>
          <a:solidFill>
            <a:srgbClr val="EBE7FB"/>
          </a:solidFill>
          <a:ln>
            <a:solidFill>
              <a:srgbClr val="5F4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52238"/>
                </a:solidFill>
                <a:latin typeface="Aptos Display"/>
              </a:rPr>
              <a:t>Historical backfill</a:t>
            </a:r>
          </a:p>
          <a:p>
            <a:pPr algn="ctr"/>
            <a:r>
              <a:rPr sz="1000">
                <a:solidFill>
                  <a:srgbClr val="152238"/>
                </a:solidFill>
                <a:latin typeface="Aptos"/>
              </a:rPr>
              <a:t>landing.mft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34640"/>
            <a:ext cx="2377440" cy="868680"/>
          </a:xfrm>
          <a:prstGeom prst="roundRect">
            <a:avLst/>
          </a:prstGeom>
          <a:solidFill>
            <a:srgbClr val="F7F9FC"/>
          </a:solidFill>
          <a:ln>
            <a:solidFill>
              <a:srgbClr val="15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52238"/>
                </a:solidFill>
                <a:latin typeface="Aptos Display"/>
              </a:rPr>
              <a:t>final_views.dcm</a:t>
            </a:r>
          </a:p>
          <a:p>
            <a:pPr algn="ctr"/>
            <a:r>
              <a:rPr sz="1100">
                <a:solidFill>
                  <a:srgbClr val="152238"/>
                </a:solidFill>
                <a:latin typeface="Aptos"/>
              </a:rPr>
              <a:t>Pass-through DCM 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834640"/>
            <a:ext cx="2423160" cy="868680"/>
          </a:xfrm>
          <a:prstGeom prst="roundRect">
            <a:avLst/>
          </a:prstGeom>
          <a:solidFill>
            <a:srgbClr val="F7F9FC"/>
          </a:solidFill>
          <a:ln>
            <a:solidFill>
              <a:srgbClr val="15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52238"/>
                </a:solidFill>
                <a:latin typeface="Aptos Display"/>
              </a:rPr>
              <a:t>final_views.utms_view</a:t>
            </a:r>
          </a:p>
          <a:p>
            <a:pPr algn="ctr"/>
            <a:r>
              <a:rPr sz="1100">
                <a:solidFill>
                  <a:srgbClr val="152238"/>
                </a:solidFill>
                <a:latin typeface="Aptos"/>
              </a:rPr>
              <a:t>Active UTM lookup 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834640"/>
            <a:ext cx="2560320" cy="868680"/>
          </a:xfrm>
          <a:prstGeom prst="roundRect">
            <a:avLst/>
          </a:prstGeom>
          <a:solidFill>
            <a:srgbClr val="FCEBEB"/>
          </a:solidFill>
          <a:ln>
            <a:solidFill>
              <a:srgbClr val="AD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52238"/>
                </a:solidFill>
                <a:latin typeface="Aptos Display"/>
              </a:rPr>
              <a:t>repo_stg.basis_plus_utms_v4_PnS_table</a:t>
            </a:r>
          </a:p>
          <a:p>
            <a:pPr algn="ctr"/>
            <a:r>
              <a:rPr sz="1000">
                <a:solidFill>
                  <a:srgbClr val="152238"/>
                </a:solidFill>
                <a:latin typeface="Aptos"/>
              </a:rPr>
              <a:t>Basis delivery joined to UTM set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57400" y="4389120"/>
            <a:ext cx="2743200" cy="868680"/>
          </a:xfrm>
          <a:prstGeom prst="roundRect">
            <a:avLst/>
          </a:prstGeom>
          <a:solidFill>
            <a:srgbClr val="FCEBEB"/>
          </a:solidFill>
          <a:ln>
            <a:solidFill>
              <a:srgbClr val="AD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52238"/>
                </a:solidFill>
                <a:latin typeface="Aptos Display"/>
              </a:rPr>
              <a:t>repo_stg.dcm_plus_utms</a:t>
            </a:r>
          </a:p>
          <a:p>
            <a:pPr algn="ctr"/>
            <a:r>
              <a:rPr sz="1100">
                <a:solidFill>
                  <a:srgbClr val="152238"/>
                </a:solidFill>
                <a:latin typeface="Aptos"/>
              </a:rPr>
              <a:t>DCM rows enriched with UTM fields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4389120"/>
            <a:ext cx="2468880" cy="868680"/>
          </a:xfrm>
          <a:prstGeom prst="roundRect">
            <a:avLst/>
          </a:prstGeom>
          <a:solidFill>
            <a:srgbClr val="E1EEFC"/>
          </a:solidFill>
          <a:ln>
            <a:solidFill>
              <a:srgbClr val="22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52238"/>
                </a:solidFill>
                <a:latin typeface="Aptos Display"/>
              </a:rPr>
              <a:t>repo_mart.mft_view</a:t>
            </a:r>
          </a:p>
          <a:p>
            <a:pPr algn="ctr"/>
            <a:r>
              <a:rPr sz="1100">
                <a:solidFill>
                  <a:srgbClr val="152238"/>
                </a:solidFill>
                <a:latin typeface="Aptos"/>
              </a:rPr>
              <a:t>Union of DCM and Basis branches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0" y="5486400"/>
            <a:ext cx="2468880" cy="777240"/>
          </a:xfrm>
          <a:prstGeom prst="roundRect">
            <a:avLst/>
          </a:prstGeom>
          <a:solidFill>
            <a:srgbClr val="E2F5ED"/>
          </a:solidFill>
          <a:ln>
            <a:solidFill>
              <a:srgbClr val="228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152238"/>
                </a:solidFill>
                <a:latin typeface="Aptos Display"/>
              </a:rPr>
              <a:t>mass_mutual_mft_ext.mft_data</a:t>
            </a:r>
          </a:p>
          <a:p>
            <a:pPr algn="ctr"/>
            <a:r>
              <a:rPr sz="1100">
                <a:solidFill>
                  <a:srgbClr val="152238"/>
                </a:solidFill>
                <a:latin typeface="Aptos"/>
              </a:rPr>
              <a:t>Final reporting table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00200" y="2148840"/>
            <a:ext cx="411480" cy="68580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023360" y="2148840"/>
            <a:ext cx="548640" cy="68580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92240" y="2148840"/>
            <a:ext cx="914400" cy="68580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7406640" y="2148840"/>
            <a:ext cx="1417320" cy="68580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103120" y="3703320"/>
            <a:ext cx="1143000" cy="68580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3611880" y="3703320"/>
            <a:ext cx="1051560" cy="68580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6446520" y="3703320"/>
            <a:ext cx="960120" cy="68580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800600" y="4800600"/>
            <a:ext cx="411480" cy="45720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446520" y="5257800"/>
            <a:ext cx="0" cy="22860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7406640" y="2148840"/>
            <a:ext cx="3429000" cy="333756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458200" y="4389120"/>
            <a:ext cx="28346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228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52238"/>
                </a:solidFill>
                <a:latin typeface="Aptos Display"/>
              </a:defRPr>
            </a:pPr>
            <a:r>
              <a:t>Plain-English summary</a:t>
            </a:r>
          </a:p>
          <a:p>
            <a:pPr>
              <a:defRPr sz="1200">
                <a:solidFill>
                  <a:srgbClr val="152238"/>
                </a:solidFill>
                <a:latin typeface="Aptos"/>
              </a:defRPr>
            </a:pPr>
            <a:r>
              <a:t>MFT enriches DCM with UTMs, combines that with the Basis branch, then publishes one final reporting table with historical continuity.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0080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876"/>
                </a:solidFill>
                <a:latin typeface="Aptos"/>
              </a:rPr>
              <a:t>MFT final endpoint checked live in BigQuery: mass_mutual_mft_ext.mft_data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5F4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52238"/>
                </a:solidFill>
                <a:latin typeface="Aptos Display"/>
              </a:rPr>
              <a:t>What To Emphasize In The Meeting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F6876"/>
                </a:solidFill>
                <a:latin typeface="Aptos"/>
              </a:rPr>
              <a:t>A concise, executive-friendly framing for strengths, controls, and opportunities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3657600" cy="4297680"/>
          </a:xfrm>
          <a:prstGeom prst="roundRect">
            <a:avLst/>
          </a:prstGeom>
          <a:solidFill>
            <a:srgbClr val="E2F5ED"/>
          </a:solidFill>
          <a:ln>
            <a:solidFill>
              <a:srgbClr val="228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52238"/>
                </a:solidFill>
                <a:latin typeface="Aptos Display"/>
              </a:defRPr>
            </a:pPr>
            <a:r>
              <a:t>Strengths</a:t>
            </a:r>
          </a:p>
          <a:p>
            <a:pPr>
              <a:defRPr sz="1700">
                <a:solidFill>
                  <a:srgbClr val="152238"/>
                </a:solidFill>
                <a:latin typeface="Aptos"/>
              </a:defRPr>
            </a:pPr>
            <a:r>
              <a:t>BigQuery-centered reporting model</a:t>
            </a:r>
          </a:p>
          <a:p>
            <a:pPr>
              <a:defRPr sz="1700">
                <a:solidFill>
                  <a:srgbClr val="152238"/>
                </a:solidFill>
                <a:latin typeface="Aptos"/>
              </a:defRPr>
            </a:pPr>
            <a:r>
              <a:t>Reusable transformation logic</a:t>
            </a:r>
          </a:p>
          <a:p>
            <a:pPr>
              <a:defRPr sz="1700">
                <a:solidFill>
                  <a:srgbClr val="152238"/>
                </a:solidFill>
                <a:latin typeface="Aptos"/>
              </a:defRPr>
            </a:pPr>
            <a:r>
              <a:t>Automated refresh workflows</a:t>
            </a:r>
          </a:p>
          <a:p>
            <a:pPr>
              <a:defRPr sz="1700">
                <a:solidFill>
                  <a:srgbClr val="152238"/>
                </a:solidFill>
                <a:latin typeface="Aptos"/>
              </a:defRPr>
            </a:pPr>
            <a:r>
              <a:t>Clear final endpoints for ADIF and MFT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554480"/>
            <a:ext cx="3291840" cy="4297680"/>
          </a:xfrm>
          <a:prstGeom prst="roundRect">
            <a:avLst/>
          </a:prstGeom>
          <a:solidFill>
            <a:srgbClr val="E1EEFC"/>
          </a:solidFill>
          <a:ln>
            <a:solidFill>
              <a:srgbClr val="22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52238"/>
                </a:solidFill>
                <a:latin typeface="Aptos Display"/>
              </a:defRPr>
            </a:pPr>
            <a:r>
              <a:t>Controls</a:t>
            </a:r>
          </a:p>
          <a:p>
            <a:pPr>
              <a:defRPr sz="1700">
                <a:solidFill>
                  <a:srgbClr val="152238"/>
                </a:solidFill>
                <a:latin typeface="Aptos"/>
              </a:defRPr>
            </a:pPr>
            <a:r>
              <a:t>Scheduled query refreshes</a:t>
            </a:r>
          </a:p>
          <a:p>
            <a:pPr>
              <a:defRPr sz="1700">
                <a:solidFill>
                  <a:srgbClr val="152238"/>
                </a:solidFill>
                <a:latin typeface="Aptos"/>
              </a:defRPr>
            </a:pPr>
            <a:r>
              <a:t>Landing-to-reporting layer separation</a:t>
            </a:r>
          </a:p>
          <a:p>
            <a:pPr>
              <a:defRPr sz="1700">
                <a:solidFill>
                  <a:srgbClr val="152238"/>
                </a:solidFill>
                <a:latin typeface="Aptos"/>
              </a:defRPr>
            </a:pPr>
            <a:r>
              <a:t>Validation queries and QA artifacts</a:t>
            </a:r>
          </a:p>
          <a:p>
            <a:pPr>
              <a:defRPr sz="1700">
                <a:solidFill>
                  <a:srgbClr val="152238"/>
                </a:solidFill>
                <a:latin typeface="Aptos"/>
              </a:defRPr>
            </a:pPr>
            <a:r>
              <a:t>Traceable upstream lineage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554480"/>
            <a:ext cx="3474720" cy="4297680"/>
          </a:xfrm>
          <a:prstGeom prst="roundRect">
            <a:avLst/>
          </a:prstGeom>
          <a:solidFill>
            <a:srgbClr val="F8EFDF"/>
          </a:solidFill>
          <a:ln>
            <a:solidFill>
              <a:srgbClr val="B87D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52238"/>
                </a:solidFill>
                <a:latin typeface="Aptos Display"/>
              </a:defRPr>
            </a:pPr>
            <a:r>
              <a:t>Next opportunities</a:t>
            </a:r>
          </a:p>
          <a:p>
            <a:pPr>
              <a:defRPr sz="1600">
                <a:solidFill>
                  <a:srgbClr val="152238"/>
                </a:solidFill>
                <a:latin typeface="Aptos"/>
              </a:defRPr>
            </a:pPr>
            <a:r>
              <a:t>Reduce legacy duplicate paths and names</a:t>
            </a:r>
          </a:p>
          <a:p>
            <a:pPr>
              <a:defRPr sz="1600">
                <a:solidFill>
                  <a:srgbClr val="152238"/>
                </a:solidFill>
                <a:latin typeface="Aptos"/>
              </a:defRPr>
            </a:pPr>
            <a:r>
              <a:t>Tighten documentation around source-of-truth tables</a:t>
            </a:r>
          </a:p>
          <a:p>
            <a:pPr>
              <a:defRPr sz="1600">
                <a:solidFill>
                  <a:srgbClr val="152238"/>
                </a:solidFill>
                <a:latin typeface="Aptos"/>
              </a:defRPr>
            </a:pPr>
            <a:r>
              <a:t>Keep standardizing spreadsheet ingestion and validation</a:t>
            </a:r>
          </a:p>
          <a:p>
            <a:pPr>
              <a:defRPr sz="1600">
                <a:solidFill>
                  <a:srgbClr val="152238"/>
                </a:solidFill>
                <a:latin typeface="Aptos"/>
              </a:defRPr>
            </a:pPr>
            <a:r>
              <a:t>Make the reporting story even simpler for non-technical audiences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989320"/>
            <a:ext cx="10424160" cy="384048"/>
          </a:xfrm>
          <a:prstGeom prst="roundRect">
            <a:avLst/>
          </a:prstGeom>
          <a:solidFill>
            <a:srgbClr val="152238"/>
          </a:solidFill>
          <a:ln>
            <a:solidFill>
              <a:srgbClr val="15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Aptos"/>
              </a:rPr>
              <a:t>Suggested close: “The infrastructure is already strong in centralization and automation, and the next step is making it simpler, cleaner, and easier to scale.”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876"/>
                </a:solidFill>
                <a:latin typeface="Aptos"/>
              </a:rPr>
              <a:t>Use this slide as your closing 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99</TotalTime>
  <Words>1202</Words>
  <Application>Microsoft Macintosh PowerPoint</Application>
  <PresentationFormat>Widescreen</PresentationFormat>
  <Paragraphs>138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Gill Sans MT</vt:lpstr>
      <vt:lpstr>Parcel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Gene Tsenter</cp:lastModifiedBy>
  <cp:revision>4</cp:revision>
  <dcterms:created xsi:type="dcterms:W3CDTF">2013-01-27T09:14:16Z</dcterms:created>
  <dcterms:modified xsi:type="dcterms:W3CDTF">2026-04-13T20:05:48Z</dcterms:modified>
  <cp:category/>
</cp:coreProperties>
</file>