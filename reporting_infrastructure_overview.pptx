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B4A"/>
                </a:solidFill>
                <a:latin typeface="Aptos Display"/>
              </a:rPr>
              <a:t>Reporting Infrastructure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26C"/>
                </a:solidFill>
                <a:latin typeface="Aptos"/>
              </a:rPr>
              <a:t>A simple map of data sources, transformation layers, and final reporting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926080"/>
          </a:xfrm>
          <a:prstGeom prst="roundRect">
            <a:avLst/>
          </a:prstGeom>
          <a:solidFill>
            <a:srgbClr val="DCEBFF"/>
          </a:solidFill>
          <a:ln>
            <a:solidFill>
              <a:srgbClr val="2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400" b="1">
                <a:solidFill>
                  <a:srgbClr val="142B4A"/>
                </a:solidFill>
                <a:latin typeface="Aptos Display"/>
              </a:defRPr>
            </a:pPr>
            <a:r>
              <a:t>My reporting infrastructure is built around BigQuery as the central reporting layer.</a:t>
            </a:r>
          </a:p>
          <a:p>
            <a:pPr>
              <a:defRPr sz="1900">
                <a:solidFill>
                  <a:srgbClr val="142B4A"/>
                </a:solidFill>
                <a:latin typeface="Aptos"/>
              </a:defRPr>
            </a:pPr>
            <a:r>
              <a:t>It combines ad delivery data, planning data, spreadsheet-based business inputs, and metadata.</a:t>
            </a:r>
          </a:p>
          <a:p>
            <a:pPr>
              <a:defRPr sz="1900">
                <a:solidFill>
                  <a:srgbClr val="142B4A"/>
                </a:solidFill>
                <a:latin typeface="Aptos"/>
              </a:defRPr>
            </a:pPr>
            <a:r>
              <a:t>SQL staging models and scheduled refreshes turn those sources into stable reporting-ready tables.</a:t>
            </a:r>
          </a:p>
          <a:p>
            <a:pPr>
              <a:defRPr sz="1900">
                <a:solidFill>
                  <a:srgbClr val="142B4A"/>
                </a:solidFill>
                <a:latin typeface="Aptos"/>
              </a:defRPr>
            </a:pPr>
            <a:r>
              <a:t>The main client pipelines I would highlight are ADIF and MFT.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0698480" cy="822960"/>
          </a:xfrm>
          <a:prstGeom prst="roundRect">
            <a:avLst/>
          </a:prstGeom>
          <a:solidFill>
            <a:srgbClr val="DFF5E9"/>
          </a:solidFill>
          <a:ln>
            <a:solidFill>
              <a:srgbClr val="28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42B4A"/>
                </a:solidFill>
                <a:latin typeface="Aptos"/>
              </a:defRPr>
            </a:pPr>
            <a:r>
              <a:t>One-line summary: Data from many operational sources flows into BigQuery, gets standardized in SQL, and ends up in reusable reporting tables for dashboards.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Aptos"/>
              </a:rPr>
              <a:t>Prepared from local repo documentation and live BigQuery object checks on April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B4A"/>
                </a:solidFill>
                <a:latin typeface="Aptos Display"/>
              </a:rPr>
              <a:t>How The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26C"/>
                </a:solidFill>
                <a:latin typeface="Aptos"/>
              </a:rPr>
              <a:t>High-level architecture across sources, warehouse processing, and reporting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240280" cy="2194560"/>
          </a:xfrm>
          <a:prstGeom prst="roundRect">
            <a:avLst/>
          </a:prstGeom>
          <a:solidFill>
            <a:srgbClr val="F8EED6"/>
          </a:solidFill>
          <a:ln>
            <a:solidFill>
              <a:srgbClr val="C48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42B4A"/>
                </a:solidFill>
                <a:latin typeface="Aptos Display"/>
              </a:defRPr>
            </a:pPr>
            <a:r>
              <a:t>Source Systems</a:t>
            </a:r>
          </a:p>
          <a:p>
            <a:pPr>
              <a:defRPr sz="1300">
                <a:solidFill>
                  <a:srgbClr val="142B4A"/>
                </a:solidFill>
                <a:latin typeface="Aptos"/>
              </a:defRPr>
            </a:pPr>
            <a:r>
              <a:t>DCM, Basis, Prisma, Google Sheets, social inputs, TV estimates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2103120"/>
            <a:ext cx="2240280" cy="2194560"/>
          </a:xfrm>
          <a:prstGeom prst="roundRect">
            <a:avLst/>
          </a:prstGeom>
          <a:solidFill>
            <a:srgbClr val="DCEBFF"/>
          </a:solidFill>
          <a:ln>
            <a:solidFill>
              <a:srgbClr val="2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42B4A"/>
                </a:solidFill>
                <a:latin typeface="Aptos Display"/>
              </a:defRPr>
            </a:pPr>
            <a:r>
              <a:t>BigQuery Landing</a:t>
            </a:r>
          </a:p>
          <a:p>
            <a:pPr>
              <a:defRPr sz="1300">
                <a:solidFill>
                  <a:srgbClr val="142B4A"/>
                </a:solidFill>
                <a:latin typeface="Aptos"/>
              </a:defRPr>
            </a:pPr>
            <a:r>
              <a:t>Raw and lightly processed tables collect incoming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2103120"/>
            <a:ext cx="2240280" cy="2194560"/>
          </a:xfrm>
          <a:prstGeom prst="roundRect">
            <a:avLst/>
          </a:prstGeom>
          <a:solidFill>
            <a:srgbClr val="FCE8E8"/>
          </a:solidFill>
          <a:ln>
            <a:solidFill>
              <a:srgbClr val="AB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42B4A"/>
                </a:solidFill>
                <a:latin typeface="Aptos Display"/>
              </a:defRPr>
            </a:pPr>
            <a:r>
              <a:t>SQL Transformation Layer</a:t>
            </a:r>
          </a:p>
          <a:p>
            <a:pPr>
              <a:defRPr sz="1300">
                <a:solidFill>
                  <a:srgbClr val="142B4A"/>
                </a:solidFill>
                <a:latin typeface="Aptos"/>
              </a:defRPr>
            </a:pPr>
            <a:r>
              <a:t>Staging views, enrichment logic, and client-specific models standardize the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2103120"/>
            <a:ext cx="2240280" cy="2194560"/>
          </a:xfrm>
          <a:prstGeom prst="roundRect">
            <a:avLst/>
          </a:prstGeom>
          <a:solidFill>
            <a:srgbClr val="DFF5E9"/>
          </a:solidFill>
          <a:ln>
            <a:solidFill>
              <a:srgbClr val="28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42B4A"/>
                </a:solidFill>
                <a:latin typeface="Aptos Display"/>
              </a:defRPr>
            </a:pPr>
            <a:r>
              <a:t>Reporting Outputs</a:t>
            </a:r>
          </a:p>
          <a:p>
            <a:pPr>
              <a:defRPr sz="1300">
                <a:solidFill>
                  <a:srgbClr val="142B4A"/>
                </a:solidFill>
                <a:latin typeface="Aptos"/>
              </a:defRPr>
            </a:pPr>
            <a:r>
              <a:t>Final tables feed dashboards and stakeholder reporting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3200400"/>
            <a:ext cx="27432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3200400"/>
            <a:ext cx="27432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18120" y="3200400"/>
            <a:ext cx="27432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8006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B4A"/>
                </a:solidFill>
                <a:latin typeface="Aptos Display"/>
              </a:defRPr>
            </a:pPr>
            <a:r>
              <a:t>Why this matters:</a:t>
            </a:r>
          </a:p>
          <a:p>
            <a:pPr>
              <a:defRPr sz="1600">
                <a:solidFill>
                  <a:srgbClr val="142B4A"/>
                </a:solidFill>
                <a:latin typeface="Aptos"/>
              </a:defRPr>
            </a:pPr>
            <a:r>
              <a:t>It keeps reporting logic centralized instead of scattered across dashboards.</a:t>
            </a:r>
          </a:p>
          <a:p>
            <a:pPr>
              <a:defRPr sz="1600">
                <a:solidFill>
                  <a:srgbClr val="142B4A"/>
                </a:solidFill>
                <a:latin typeface="Aptos"/>
              </a:defRPr>
            </a:pPr>
            <a:r>
              <a:t>It makes recurring refreshes and troubleshooting more manageable.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Aptos"/>
              </a:rPr>
              <a:t>Architecture view: sources -&gt; BigQuery -&gt; SQL models -&gt; final reporting 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B4A"/>
                </a:solidFill>
                <a:latin typeface="Aptos Display"/>
              </a:rPr>
              <a:t>ADIF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26C"/>
                </a:solidFill>
                <a:latin typeface="Aptos"/>
              </a:rPr>
              <a:t>Planning, delivery, first-party data, and social layering combined into one reporting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4480560"/>
          </a:xfrm>
          <a:prstGeom prst="roundRect">
            <a:avLst/>
          </a:prstGeom>
          <a:solidFill>
            <a:srgbClr val="DCEBFF"/>
          </a:solidFill>
          <a:ln>
            <a:solidFill>
              <a:srgbClr val="2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B4A"/>
                </a:solidFill>
                <a:latin typeface="Aptos Display"/>
              </a:defRPr>
            </a:pPr>
            <a:r>
              <a:t>Main inputs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DCM delivery data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Prisma planning data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Original Google Sheets FPD branch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Updated package-level FPD overlay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Social and pacing data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TV estimate support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54480"/>
            <a:ext cx="5349240" cy="4480560"/>
          </a:xfrm>
          <a:prstGeom prst="roundRect">
            <a:avLst/>
          </a:prstGeom>
          <a:solidFill>
            <a:srgbClr val="DFF5E9"/>
          </a:solidFill>
          <a:ln>
            <a:solidFill>
              <a:srgbClr val="28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B4A"/>
                </a:solidFill>
                <a:latin typeface="Aptos Display"/>
              </a:defRPr>
            </a:pPr>
            <a:r>
              <a:t>Core reporting flow</a:t>
            </a:r>
          </a:p>
          <a:p>
            <a:pPr>
              <a:defRPr sz="1600">
                <a:solidFill>
                  <a:srgbClr val="142B4A"/>
                </a:solidFill>
                <a:latin typeface="Aptos"/>
              </a:defRPr>
            </a:pPr>
            <a:r>
              <a:t>Base enrichment view: repo_stg.adif__prisma_expanded_plus_dcm_updated_fpd_view</a:t>
            </a:r>
          </a:p>
          <a:p>
            <a:pPr>
              <a:defRPr sz="1600">
                <a:solidFill>
                  <a:srgbClr val="142B4A"/>
                </a:solidFill>
                <a:latin typeface="Aptos"/>
              </a:defRPr>
            </a:pPr>
            <a:r>
              <a:t>Social staging view: repo_stg.stg__adif__social_crossplatform</a:t>
            </a:r>
          </a:p>
          <a:p>
            <a:pPr>
              <a:defRPr sz="1600">
                <a:solidFill>
                  <a:srgbClr val="142B4A"/>
                </a:solidFill>
                <a:latin typeface="Aptos"/>
              </a:defRPr>
            </a:pPr>
            <a:r>
              <a:t>Live reporting table: repo_stg.adif__mainDataTable_notebook_v2_test</a:t>
            </a:r>
          </a:p>
          <a:p>
            <a:pPr>
              <a:defRPr sz="1600">
                <a:solidFill>
                  <a:srgbClr val="142B4A"/>
                </a:solidFill>
                <a:latin typeface="Aptos"/>
              </a:defRPr>
            </a:pPr>
            <a:r>
              <a:t>This final table is the clearest reporting endpoint to discuss with leadership.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0" y="3749039"/>
            <a:ext cx="68580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Aptos"/>
              </a:rPr>
              <a:t>Priority order in ADIF actuals: updated FPD -&gt; original FPD -&gt; DCM -&gt; planned Prisma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B4A"/>
                </a:solidFill>
                <a:latin typeface="Aptos Display"/>
              </a:rPr>
              <a:t>MFT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26C"/>
                </a:solidFill>
                <a:latin typeface="Aptos"/>
              </a:rPr>
              <a:t>DCM plus Basis plus UTM enrichment for the MassMutual reporting endpoint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241280" cy="822960"/>
          </a:xfrm>
          <a:prstGeom prst="roundRect">
            <a:avLst/>
          </a:prstGeom>
          <a:solidFill>
            <a:srgbClr val="F8EED6"/>
          </a:solidFill>
          <a:ln>
            <a:solidFill>
              <a:srgbClr val="C48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142B4A"/>
                </a:solidFill>
                <a:latin typeface="Aptos Display"/>
              </a:defRPr>
            </a:pPr>
            <a:r>
              <a:t>Inputs: </a:t>
            </a:r>
            <a:r>
              <a:rPr sz="1700">
                <a:solidFill>
                  <a:srgbClr val="142B4A"/>
                </a:solidFill>
                <a:latin typeface="Aptos"/>
              </a:rPr>
              <a:t>DCM cost model, Basis delivery, and UTM metadata from trafficking sheets and manual uploads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10241280" cy="822960"/>
          </a:xfrm>
          <a:prstGeom prst="roundRect">
            <a:avLst/>
          </a:prstGeom>
          <a:solidFill>
            <a:srgbClr val="FCE8E8"/>
          </a:solidFill>
          <a:ln>
            <a:solidFill>
              <a:srgbClr val="AB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142B4A"/>
                </a:solidFill>
                <a:latin typeface="Aptos Display"/>
              </a:defRPr>
            </a:pPr>
            <a:r>
              <a:t>Transformation: </a:t>
            </a:r>
            <a:r>
              <a:rPr sz="1700">
                <a:solidFill>
                  <a:srgbClr val="142B4A"/>
                </a:solidFill>
                <a:latin typeface="Aptos"/>
              </a:rPr>
              <a:t>repo_stg.dcm_plus_utms enriches DCM rows, then repo_mart.mft_view combines DCM and Basis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10241280" cy="822960"/>
          </a:xfrm>
          <a:prstGeom prst="roundRect">
            <a:avLst/>
          </a:prstGeom>
          <a:solidFill>
            <a:srgbClr val="DFF5E9"/>
          </a:solidFill>
          <a:ln>
            <a:solidFill>
              <a:srgbClr val="28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142B4A"/>
                </a:solidFill>
                <a:latin typeface="Aptos Display"/>
              </a:defRPr>
            </a:pPr>
            <a:r>
              <a:t>Final output: </a:t>
            </a:r>
            <a:r>
              <a:rPr sz="1700">
                <a:solidFill>
                  <a:srgbClr val="142B4A"/>
                </a:solidFill>
                <a:latin typeface="Aptos"/>
              </a:rPr>
              <a:t>mass_mutual_mft_ext.mft_data is the final reporting table used for downstream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Aptos"/>
              </a:rPr>
              <a:t>MFT endpoint checked live in BigQuery: mass_mutual_mft_ext.mft_data and mft_data_current both exist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B4A"/>
                </a:solidFill>
                <a:latin typeface="Aptos Display"/>
              </a:rPr>
              <a:t>How The Infrastructure Stays Reliable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26C"/>
                </a:solidFill>
                <a:latin typeface="Aptos"/>
              </a:rPr>
              <a:t>Operational practices that keep reporting current and easier to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42B4A"/>
                </a:solidFill>
                <a:latin typeface="Aptos"/>
              </a:defRPr>
            </a:pPr>
            <a:r>
              <a:t>Scheduled BigQuery refresh jobs keep core reporting tables current.</a:t>
            </a:r>
          </a:p>
          <a:p>
            <a:pPr>
              <a:spcAft>
                <a:spcPts val="800"/>
              </a:spcAft>
              <a:defRPr sz="2000">
                <a:solidFill>
                  <a:srgbClr val="142B4A"/>
                </a:solidFill>
                <a:latin typeface="Aptos"/>
              </a:defRPr>
            </a:pPr>
            <a:r>
              <a:t>Shared loaders bring in spreadsheet and support data on a repeatable basis.</a:t>
            </a:r>
          </a:p>
          <a:p>
            <a:pPr>
              <a:spcAft>
                <a:spcPts val="800"/>
              </a:spcAft>
              <a:defRPr sz="2000">
                <a:solidFill>
                  <a:srgbClr val="142B4A"/>
                </a:solidFill>
                <a:latin typeface="Aptos"/>
              </a:defRPr>
            </a:pPr>
            <a:r>
              <a:t>Validation queries and QA artifacts help catch mismatches before numbers are shared widely.</a:t>
            </a:r>
          </a:p>
          <a:p>
            <a:pPr>
              <a:spcAft>
                <a:spcPts val="800"/>
              </a:spcAft>
              <a:defRPr sz="2000">
                <a:solidFill>
                  <a:srgbClr val="142B4A"/>
                </a:solidFill>
                <a:latin typeface="Aptos"/>
              </a:defRPr>
            </a:pPr>
            <a:r>
              <a:t>Separating source, staging, and final reporting layers makes debugging easier when something breaks.</a:t>
            </a:r>
          </a:p>
          <a:p>
            <a:pPr>
              <a:spcAft>
                <a:spcPts val="800"/>
              </a:spcAft>
              <a:defRPr sz="2000">
                <a:solidFill>
                  <a:srgbClr val="142B4A"/>
                </a:solidFill>
                <a:latin typeface="Aptos"/>
              </a:defRPr>
            </a:pPr>
            <a:r>
              <a:t>Using final warehouse tables as reporting endpoints reduces logic drift in dashboards.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166360"/>
            <a:ext cx="10515600" cy="640080"/>
          </a:xfrm>
          <a:prstGeom prst="roundRect">
            <a:avLst/>
          </a:prstGeom>
          <a:solidFill>
            <a:srgbClr val="DCEBFF"/>
          </a:solidFill>
          <a:ln>
            <a:solidFill>
              <a:srgbClr val="2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42B4A"/>
                </a:solidFill>
                <a:latin typeface="Aptos"/>
              </a:defRPr>
            </a:pPr>
            <a:r>
              <a:t>Leadership takeaway: this is not just a collection of scripts; it is a repeatable reporting system with defined inputs, transformation logic, and final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Aptos"/>
              </a:rPr>
              <a:t>Operational themes: automation, validation, and clearer source-of-truth reporting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B4A"/>
                </a:solidFill>
                <a:latin typeface="Aptos Display"/>
              </a:rPr>
              <a:t>Strengths And Next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26C"/>
                </a:solidFill>
                <a:latin typeface="Aptos"/>
              </a:rPr>
              <a:t>A balanced way to talk about the current system with your boss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303520" cy="4114800"/>
          </a:xfrm>
          <a:prstGeom prst="roundRect">
            <a:avLst/>
          </a:prstGeom>
          <a:solidFill>
            <a:srgbClr val="DFF5E9"/>
          </a:solidFill>
          <a:ln>
            <a:solidFill>
              <a:srgbClr val="28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B4A"/>
                </a:solidFill>
                <a:latin typeface="Aptos Display"/>
              </a:defRPr>
            </a:pPr>
            <a:r>
              <a:t>Current strengths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BigQuery-centered design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Reusable SQL transformation logic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Automated scheduled refreshes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Clear final reporting endpoints for ADIF and MFT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57800" cy="4114800"/>
          </a:xfrm>
          <a:prstGeom prst="roundRect">
            <a:avLst/>
          </a:prstGeom>
          <a:solidFill>
            <a:srgbClr val="F8EED6"/>
          </a:solidFill>
          <a:ln>
            <a:solidFill>
              <a:srgbClr val="C48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B4A"/>
                </a:solidFill>
                <a:latin typeface="Aptos Display"/>
              </a:defRPr>
            </a:pPr>
            <a:r>
              <a:t>Next opportunities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Reduce duplicate legacy paths and naming overlap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Keep documentation tighter around source-of-truth endpoints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Continue standardizing validation around spreadsheet-based inputs</a:t>
            </a:r>
          </a:p>
          <a:p>
            <a:pPr>
              <a:defRPr sz="1700">
                <a:solidFill>
                  <a:srgbClr val="142B4A"/>
                </a:solidFill>
                <a:latin typeface="Aptos"/>
              </a:defRPr>
            </a:pPr>
            <a:r>
              <a:t>Make the final reporting layer even easier to explain to non-technical stakeholders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897880"/>
            <a:ext cx="10789920" cy="41148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ptos"/>
              </a:defRPr>
            </a:pPr>
            <a:r>
              <a:t>Suggested close: “The infrastructure is already strong in centralization and automation, and the next step is making it even simpler and more standardized.”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Aptos"/>
              </a:rPr>
              <a:t>Deck generated locally on April 13,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