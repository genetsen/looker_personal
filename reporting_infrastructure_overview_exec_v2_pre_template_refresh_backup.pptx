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Reporting Infrastructure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Executive version with architecture, ingestion, enrichment logic, and full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1965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52238"/>
                </a:solidFill>
                <a:latin typeface="Aptos Display"/>
              </a:rPr>
              <a:t>The reporting stack is centered on BigQuery as the operational source of truth for analytics.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It brings together ad delivery, planning, spreadsheet-based first-party data, and metadata from multiple source systems.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Those sources are standardized in reusable SQL layers and published as final reporting tables for dashboards and stakeholder reporting.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The two main reporting pipelines highlighted in this deck are ADIF and MFT.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3337560" cy="141732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Core model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Sources -&gt; BigQuery -&gt; SQL models -&gt; final reporting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886200"/>
            <a:ext cx="3337560" cy="141732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Main outputs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ADIF final table and MFT final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886200"/>
            <a:ext cx="3337560" cy="1417320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Leadership takeaway</a:t>
            </a:r>
          </a:p>
          <a:p>
            <a:pPr algn="ctr"/>
            <a:r>
              <a:rPr sz="1300">
                <a:solidFill>
                  <a:srgbClr val="152238"/>
                </a:solidFill>
                <a:latin typeface="Aptos"/>
              </a:rPr>
              <a:t>Centralized logic is easier to explain, validate, and maintain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Deck assembled from repo documentation and live BigQuery object checks on 2026-04-13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A business-friendly picture of how data moves through the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240280" cy="24231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52238"/>
                </a:solidFill>
                <a:latin typeface="Aptos Display"/>
              </a:rPr>
              <a:t>Sources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DCM, Basis, Prisma, Google Sheets, Gmail attachments, social platform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240280" cy="24231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52238"/>
                </a:solidFill>
                <a:latin typeface="Aptos Display"/>
              </a:rPr>
              <a:t>Landing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BigQuery landing and shared source tables collect raw or lightly cleaned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2240280" cy="242316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52238"/>
                </a:solidFill>
                <a:latin typeface="Aptos Display"/>
              </a:rPr>
              <a:t>Transformation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Staging views and enrichment logic standardize fields, join metadata, and set reporting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2240280" cy="242316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52238"/>
                </a:solidFill>
                <a:latin typeface="Aptos Display"/>
              </a:rPr>
              <a:t>Reporting Layer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Final tables feed dashboards, QA checks, and stakeholder reporting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017520"/>
            <a:ext cx="594360" cy="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4800600"/>
            <a:ext cx="105613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52238"/>
                </a:solidFill>
                <a:latin typeface="Aptos Display"/>
              </a:rPr>
              <a:t>Best simple explanation: </a:t>
            </a:r>
            <a:r>
              <a:rPr sz="1700">
                <a:solidFill>
                  <a:srgbClr val="152238"/>
                </a:solidFill>
                <a:latin typeface="Aptos"/>
              </a:rPr>
              <a:t>we centralize messy source inputs in BigQuery, apply shared business logic once, and publish stable reporting tables for downstream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High-level pattern used across ADIF, MFT, and shared utilities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87D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Raw Data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High-level view of how source data gets into BigQuery before reporting logic is applied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75488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52238"/>
                </a:solidFill>
                <a:latin typeface="Aptos Display"/>
              </a:rPr>
              <a:t>1. Source discovery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Find source files or source tables from Gmail, Google Sheets, ad platforms, or planning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2350008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2624328"/>
            <a:ext cx="4754880" cy="749808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52238"/>
                </a:solidFill>
                <a:latin typeface="Aptos Display"/>
              </a:rPr>
              <a:t>2. File intake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Download or read the newest file, tab, or source object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3374136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3648456"/>
            <a:ext cx="4754880" cy="749808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52238"/>
                </a:solidFill>
                <a:latin typeface="Aptos Display"/>
              </a:rPr>
              <a:t>3. Standardization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Clean headers, map source-specific fields into a consistent schema, and add refresh metadata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54680" y="4398264"/>
            <a:ext cx="0" cy="2743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4672584"/>
            <a:ext cx="4754880" cy="749808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52238"/>
                </a:solidFill>
                <a:latin typeface="Aptos Display"/>
              </a:rPr>
              <a:t>4. Warehouse load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Write the result into landing tables in BigQuery, usually as a full refresh for the target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554480"/>
            <a:ext cx="544068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52238"/>
                </a:solidFill>
                <a:latin typeface="Aptos Display"/>
              </a:rPr>
              <a:t>Concrete examples from this repo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TV estimate loaders search Gmail for the newest CSV attachment, reshape it to one standard schema, and replace landing.tv_local_estimates or landing.tv_national_estimates.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The FPD loader reads partner Google Sheets, normalizes inconsistent headers across many files, expands date ranges to daily rows, and writes to landing first-party tables.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Updated FPD processing reads corrected package totals from a Google Sheet, uses Prisma date ranges to spread them into daily rows, and uploads landing.adif_updated_fpd_daily.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5166360"/>
            <a:ext cx="5074920" cy="5943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52238"/>
                </a:solidFill>
                <a:latin typeface="Aptos"/>
              </a:rPr>
              <a:t>Theme: ingestion is designed to convert inconsistent operational inputs into consistent landing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Examples drawn from util/data_loaders and FPD loader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Enrichment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How raw inputs become business-ready reporting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834640" cy="38404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Join and align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Add planning metadata to delivery data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Match UTMs to DCM rows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Attach corrected FPD to existing digital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645920"/>
            <a:ext cx="2834640" cy="384048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Apply business rules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Set source priority when multiple actuals exist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Preserve orphan rows with outer joins where needed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Recalculate final metrics after enrichment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45920"/>
            <a:ext cx="2834640" cy="38404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52238"/>
                </a:solidFill>
                <a:latin typeface="Aptos Display"/>
              </a:rPr>
              <a:t>Publish stable outputs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Keep reusable staging views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Build final reporting tables on a schedule</a:t>
            </a:r>
          </a:p>
          <a:p>
            <a:pPr>
              <a:defRPr sz="1500">
                <a:solidFill>
                  <a:srgbClr val="152238"/>
                </a:solidFill>
                <a:latin typeface="Aptos"/>
              </a:defRPr>
            </a:pPr>
            <a:r>
              <a:t>Use final tables as dashboard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669280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52238"/>
                </a:solidFill>
                <a:latin typeface="Aptos Display"/>
              </a:rPr>
              <a:t>Example rule worth mentioning: </a:t>
            </a:r>
            <a:r>
              <a:rPr sz="1400">
                <a:solidFill>
                  <a:srgbClr val="152238"/>
                </a:solidFill>
                <a:latin typeface="Aptos"/>
              </a:rPr>
              <a:t>in ADIF, actuals priority is updated FPD first, then original FPD, then DCM, and finally planned-only Prisma rows if no actuals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This slide explains the “business logic layer” in plain English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ADIF Full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End-to-end flow from raw source tables to the live ADIF reporting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214884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52238"/>
                </a:solidFill>
                <a:latin typeface="Aptos Display"/>
              </a:rPr>
              <a:t>DCM cost model</a:t>
            </a:r>
          </a:p>
          <a:p>
            <a:pPr algn="ctr"/>
            <a:r>
              <a:rPr sz="900">
                <a:solidFill>
                  <a:srgbClr val="152238"/>
                </a:solidFill>
                <a:latin typeface="Aptos"/>
              </a:rPr>
              <a:t>DCM.20250505_costModel_v5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224028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52238"/>
                </a:solidFill>
                <a:latin typeface="Aptos Display"/>
              </a:rPr>
              <a:t>Original FPD</a:t>
            </a:r>
          </a:p>
          <a:p>
            <a:pPr algn="ctr"/>
            <a:r>
              <a:rPr sz="900">
                <a:solidFill>
                  <a:srgbClr val="152238"/>
                </a:solidFill>
                <a:latin typeface="Aptos"/>
              </a:rPr>
              <a:t>landing.fpd_data_ranged_shortcutsFolder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417320"/>
            <a:ext cx="2148840" cy="749808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52238"/>
                </a:solidFill>
                <a:latin typeface="Aptos Display"/>
              </a:rPr>
              <a:t>Prisma planning</a:t>
            </a:r>
          </a:p>
          <a:p>
            <a:pPr algn="ctr"/>
            <a:r>
              <a:rPr sz="900">
                <a:solidFill>
                  <a:srgbClr val="152238"/>
                </a:solidFill>
                <a:latin typeface="Aptos"/>
              </a:rPr>
              <a:t>20250327_data_model.prisma_expanded_full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2240280" cy="749808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52238"/>
                </a:solidFill>
                <a:latin typeface="Aptos Display"/>
              </a:rPr>
              <a:t>Updated FPD</a:t>
            </a:r>
          </a:p>
          <a:p>
            <a:pPr algn="ctr"/>
            <a:r>
              <a:rPr sz="900">
                <a:solidFill>
                  <a:srgbClr val="152238"/>
                </a:solidFill>
                <a:latin typeface="Aptos"/>
              </a:rPr>
              <a:t>landing.adif_updated_fpd_daily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417320"/>
            <a:ext cx="1783080" cy="749808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52238"/>
                </a:solidFill>
                <a:latin typeface="Aptos Display"/>
              </a:rPr>
              <a:t>Social + pacing</a:t>
            </a:r>
          </a:p>
          <a:p>
            <a:pPr algn="ctr"/>
            <a:r>
              <a:rPr sz="900">
                <a:solidFill>
                  <a:srgbClr val="152238"/>
                </a:solidFill>
                <a:latin typeface="Aptos"/>
              </a:rPr>
              <a:t>stg__adif__social_crossplatform
repo_int.crossplatform_pacing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743200"/>
            <a:ext cx="3749039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152238"/>
                </a:solidFill>
                <a:latin typeface="Aptos Display"/>
              </a:rPr>
              <a:t>Digital base 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repo_stg.adif__prisma_expanded_plus_dcm_view_v3_test
Combines DCM + original FPD + Prisma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069080"/>
            <a:ext cx="38404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152238"/>
                </a:solidFill>
                <a:latin typeface="Aptos Display"/>
              </a:rPr>
              <a:t>Updated digital base 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repo_stg.adif__prisma_expanded_plus_dcm_updated_fpd_view
Adds updated FPD and recalculates final actuals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5440680"/>
            <a:ext cx="3840480" cy="8686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52238"/>
                </a:solidFill>
                <a:latin typeface="Aptos Display"/>
              </a:rPr>
              <a:t>Final ADIF reporting table</a:t>
            </a:r>
          </a:p>
          <a:p>
            <a:pPr algn="ctr"/>
            <a:r>
              <a:rPr sz="1200">
                <a:solidFill>
                  <a:srgbClr val="152238"/>
                </a:solidFill>
                <a:latin typeface="Aptos"/>
              </a:rPr>
              <a:t>repo_stg.adif__mainDataTable_notebook_v2_test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2167128"/>
            <a:ext cx="233172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794760" y="2167128"/>
            <a:ext cx="4572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94760" y="2167128"/>
            <a:ext cx="2514600" cy="57607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69280" y="2167128"/>
            <a:ext cx="3017520" cy="190195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98079" y="2167128"/>
            <a:ext cx="3383281" cy="3273552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3611880"/>
            <a:ext cx="0" cy="4572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4937760"/>
            <a:ext cx="0" cy="50292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5715000"/>
            <a:ext cx="25603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52238"/>
                </a:solidFill>
                <a:latin typeface="Aptos Display"/>
              </a:defRPr>
            </a:pPr>
            <a:r>
              <a:t>Live checked in BigQuery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5623560"/>
            <a:ext cx="3383280" cy="621792"/>
          </a:xfrm>
          <a:prstGeom prst="roundRect">
            <a:avLst/>
          </a:prstGeom>
          <a:solidFill>
            <a:srgbClr val="F7F9FC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52238"/>
                </a:solidFill>
                <a:latin typeface="Aptos"/>
              </a:defRPr>
            </a:pPr>
            <a:r>
              <a:t>Business rule: updated FPD -&gt; original FPD -&gt; DCM -&gt; planned-only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Current production target documented as repo_stg.adif__mainDataTable_notebook_v2_test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MFT Full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End-to-end path from DCM, Basis, and UTM inputs to the final MFT reporting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240280" cy="8229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DCM delivery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DCM.20250505_costModel_v5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25880"/>
            <a:ext cx="2240280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UTM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landing.adswerve_utms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325880"/>
            <a:ext cx="2331720" cy="82296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Basis delivery source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basis_master2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1874519" cy="82296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Basis UTM set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utm_scrap + manual uploads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325880"/>
            <a:ext cx="1645920" cy="822960"/>
          </a:xfrm>
          <a:prstGeom prst="roundRect">
            <a:avLst/>
          </a:prstGeom>
          <a:solidFill>
            <a:srgbClr val="EBE7FB"/>
          </a:solidFill>
          <a:ln>
            <a:solidFill>
              <a:srgbClr val="5F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Historical backfill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landing.mft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34640"/>
            <a:ext cx="237744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final_views.dcm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Pass-through DCM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834640"/>
            <a:ext cx="2423160" cy="868680"/>
          </a:xfrm>
          <a:prstGeom prst="roundRect">
            <a:avLst/>
          </a:prstGeom>
          <a:solidFill>
            <a:srgbClr val="F7F9FC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152238"/>
                </a:solidFill>
                <a:latin typeface="Aptos Display"/>
              </a:rPr>
              <a:t>final_views.utms_view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Active UTM lookup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2560320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152238"/>
                </a:solidFill>
                <a:latin typeface="Aptos Display"/>
              </a:rPr>
              <a:t>repo_stg.basis_plus_utms_v4_PnS_table</a:t>
            </a:r>
          </a:p>
          <a:p>
            <a:pPr algn="ctr"/>
            <a:r>
              <a:rPr sz="1000">
                <a:solidFill>
                  <a:srgbClr val="152238"/>
                </a:solidFill>
                <a:latin typeface="Aptos"/>
              </a:rPr>
              <a:t>Basis delivery joined to UTM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389120"/>
            <a:ext cx="2743200" cy="868680"/>
          </a:xfrm>
          <a:prstGeom prst="roundRect">
            <a:avLst/>
          </a:prstGeom>
          <a:solidFill>
            <a:srgbClr val="FCEBEB"/>
          </a:solidFill>
          <a:ln>
            <a:solidFill>
              <a:srgbClr val="AD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52238"/>
                </a:solidFill>
                <a:latin typeface="Aptos Display"/>
              </a:rPr>
              <a:t>repo_stg.dcm_plus_utms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DCM rows enriched with UTM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389120"/>
            <a:ext cx="2468880" cy="868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52238"/>
                </a:solidFill>
                <a:latin typeface="Aptos Display"/>
              </a:rPr>
              <a:t>repo_mart.mft_view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Union of DCM and Basis branches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5486400"/>
            <a:ext cx="2468880" cy="77724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700">
                <a:solidFill>
                  <a:srgbClr val="152238"/>
                </a:solidFill>
                <a:latin typeface="Aptos Display"/>
              </a:rPr>
              <a:t>mass_mutual_mft_ext.mft_data</a:t>
            </a:r>
          </a:p>
          <a:p>
            <a:pPr algn="ctr"/>
            <a:r>
              <a:rPr sz="1100">
                <a:solidFill>
                  <a:srgbClr val="152238"/>
                </a:solidFill>
                <a:latin typeface="Aptos"/>
              </a:rPr>
              <a:t>Final reporting table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148840"/>
            <a:ext cx="41148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23360" y="2148840"/>
            <a:ext cx="54864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92240" y="2148840"/>
            <a:ext cx="91440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06640" y="2148840"/>
            <a:ext cx="141732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03120" y="3703320"/>
            <a:ext cx="114300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1880" y="3703320"/>
            <a:ext cx="105156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446520" y="3703320"/>
            <a:ext cx="960120" cy="6858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4800600"/>
            <a:ext cx="411480" cy="4572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46520" y="5257800"/>
            <a:ext cx="0" cy="22860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406640" y="2148840"/>
            <a:ext cx="3429000" cy="3337560"/>
          </a:xfrm>
          <a:prstGeom prst="line">
            <a:avLst/>
          </a:prstGeom>
          <a:ln w="25400">
            <a:solidFill>
              <a:srgbClr val="5F68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58200" y="4389120"/>
            <a:ext cx="28346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52238"/>
                </a:solidFill>
                <a:latin typeface="Aptos Display"/>
              </a:defRPr>
            </a:pPr>
            <a:r>
              <a:t>Plain-English summary</a:t>
            </a:r>
          </a:p>
          <a:p>
            <a:pPr>
              <a:defRPr sz="1200">
                <a:solidFill>
                  <a:srgbClr val="152238"/>
                </a:solidFill>
                <a:latin typeface="Aptos"/>
              </a:defRPr>
            </a:pPr>
            <a:r>
              <a:t>MFT enriches DCM with UTMs, combines that with the Basis branch, then publishes one final reporting table with historical continuity.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MFT final endpoint checked live in BigQuery: mass_mutual_mft_ext.mft_data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5F4E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52238"/>
                </a:solidFill>
                <a:latin typeface="Aptos Display"/>
              </a:rPr>
              <a:t>What To Emphasize In The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876"/>
                </a:solidFill>
                <a:latin typeface="Aptos"/>
              </a:rPr>
              <a:t>A concise, executive-friendly framing for strengths, controls, and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657600" cy="4297680"/>
          </a:xfrm>
          <a:prstGeom prst="roundRect">
            <a:avLst/>
          </a:prstGeom>
          <a:solidFill>
            <a:srgbClr val="E2F5ED"/>
          </a:solidFill>
          <a:ln>
            <a:solidFill>
              <a:srgbClr val="2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Strengths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BigQuery-centered reporting model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Reusable transformation logic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Automated refresh workflows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Clear final endpoints for ADIF and MFT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291840" cy="4297680"/>
          </a:xfrm>
          <a:prstGeom prst="roundRect">
            <a:avLst/>
          </a:prstGeom>
          <a:solidFill>
            <a:srgbClr val="E1EEFC"/>
          </a:solidFill>
          <a:ln>
            <a:solidFill>
              <a:srgbClr val="22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Controls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Scheduled query refreshes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Landing-to-reporting layer separation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Validation queries and QA artifacts</a:t>
            </a:r>
          </a:p>
          <a:p>
            <a:pPr>
              <a:defRPr sz="1700">
                <a:solidFill>
                  <a:srgbClr val="152238"/>
                </a:solidFill>
                <a:latin typeface="Aptos"/>
              </a:defRPr>
            </a:pPr>
            <a:r>
              <a:t>Traceable upstream lineage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554480"/>
            <a:ext cx="3474720" cy="4297680"/>
          </a:xfrm>
          <a:prstGeom prst="roundRect">
            <a:avLst/>
          </a:prstGeom>
          <a:solidFill>
            <a:srgbClr val="F8EFDF"/>
          </a:solidFill>
          <a:ln>
            <a:solidFill>
              <a:srgbClr val="B87D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52238"/>
                </a:solidFill>
                <a:latin typeface="Aptos Display"/>
              </a:defRPr>
            </a:pPr>
            <a:r>
              <a:t>Next opportunities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Reduce legacy duplicate paths and names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Tighten documentation around source-of-truth tables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Keep standardizing spreadsheet ingestion and validation</a:t>
            </a:r>
          </a:p>
          <a:p>
            <a:pPr>
              <a:defRPr sz="1600">
                <a:solidFill>
                  <a:srgbClr val="152238"/>
                </a:solidFill>
                <a:latin typeface="Aptos"/>
              </a:defRPr>
            </a:pPr>
            <a:r>
              <a:t>Make the reporting story even simpler for non-technical 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989320"/>
            <a:ext cx="10424160" cy="384048"/>
          </a:xfrm>
          <a:prstGeom prst="roundRect">
            <a:avLst/>
          </a:prstGeom>
          <a:solidFill>
            <a:srgbClr val="152238"/>
          </a:solidFill>
          <a:ln>
            <a:solidFill>
              <a:srgbClr val="15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Suggested close: “The infrastructure is already strong in centralization and automation, and the next step is making it simpler, cleaner, and easier to scale.”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F6876"/>
                </a:solidFill>
                <a:latin typeface="Aptos"/>
              </a:rPr>
              <a:t>Use this slide as your closing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