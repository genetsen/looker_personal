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384048"/>
            <a:ext cx="4187952" cy="6016752"/>
          </a:xfrm>
          <a:prstGeom prst="rect">
            <a:avLst/>
          </a:prstGeom>
          <a:solidFill>
            <a:srgbClr val="EE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58200" y="960120"/>
            <a:ext cx="2880360" cy="9144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58200" y="2194560"/>
            <a:ext cx="2880360" cy="50292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58200" y="3429000"/>
            <a:ext cx="2880360" cy="731520"/>
          </a:xfrm>
          <a:prstGeom prst="rect">
            <a:avLst/>
          </a:prstGeom>
          <a:solidFill>
            <a:srgbClr val="1229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766560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0C0C0C"/>
                </a:solidFill>
                <a:latin typeface="Sora"/>
              </a:rPr>
              <a:t>REPORTING
INFRASTRUCTURE
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6309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033A0"/>
                </a:solidFill>
                <a:latin typeface="Sora"/>
              </a:rPr>
              <a:t>Executive version with architecture, ingestion, enrichment logic, and full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389120"/>
            <a:ext cx="612648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0C0C0C"/>
                </a:solidFill>
                <a:latin typeface="Sora"/>
              </a:rPr>
              <a:t>The reporting stack is centered on BigQuery as the operational source of truth for analytics. It brings together ad delivery, planning, spreadsheet-based first-party data, and manual enrichment into stable reporting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6E6E6E"/>
                </a:solidFill>
                <a:latin typeface="Sora"/>
              </a:rPr>
              <a:t>EXECUTIVE OVERVIEW | 04.13.26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C0C0C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6E6E6E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2560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685800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AFAFA"/>
                </a:solidFill>
                <a:latin typeface="Sora"/>
              </a:rPr>
              <a:t>ACTIVE CLIENT REPORTING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97280"/>
            <a:ext cx="48463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C8C8C8"/>
                </a:solidFill>
                <a:latin typeface="Sora"/>
              </a:rPr>
              <a:t>4 CLIENTS | SHARED INFRASTRUCTURE | CLIENT-SPECIFIC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783080"/>
            <a:ext cx="2651760" cy="1874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783080"/>
            <a:ext cx="2651760" cy="15544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039112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0C0C0C"/>
                </a:solidFill>
                <a:latin typeface="Sora"/>
              </a:rPr>
              <a:t>ADIF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468880"/>
            <a:ext cx="2240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Multi-source reporting across planning, actuals, first-party data, social, and TV support inputs.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783080"/>
            <a:ext cx="2651760" cy="1874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783080"/>
            <a:ext cx="2651760" cy="15544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039112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0C0C0C"/>
                </a:solidFill>
                <a:latin typeface="Sora"/>
              </a:rPr>
              <a:t>APOLLO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468880"/>
            <a:ext cx="2240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Campaign reporting support built on shared ingestion, QA, and reusable reporting workflows.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61888" y="1783080"/>
            <a:ext cx="2651760" cy="1874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61888" y="1783080"/>
            <a:ext cx="2651760" cy="15544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2039112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0C0C0C"/>
                </a:solidFill>
                <a:latin typeface="Sora"/>
              </a:rPr>
              <a:t>OLIPOP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468880"/>
            <a:ext cx="2240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Cross-platform reporting across paid media sources with shared transformation logic and dashboard outputs.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77656" y="1783080"/>
            <a:ext cx="2651760" cy="187451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77656" y="1783080"/>
            <a:ext cx="2651760" cy="15544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42248" y="2039112"/>
            <a:ext cx="2194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1" i="0">
                <a:solidFill>
                  <a:srgbClr val="0C0C0C"/>
                </a:solidFill>
                <a:latin typeface="Sora"/>
              </a:rPr>
              <a:t>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2468880"/>
            <a:ext cx="224028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Full-funnel reporting that combines DCM, Basis, and UTM-enriched delivery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754880"/>
            <a:ext cx="1069848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Sora"/>
              </a:rPr>
              <a:t>The same reporting foundation supports very different client realities, from layered ADIF actuals to full-funnel MM delivery and UTM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AFAFA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A0A0A0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44200" y="365760"/>
            <a:ext cx="82296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62179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300" b="1" i="0">
                <a:solidFill>
                  <a:srgbClr val="0C0C0C"/>
                </a:solidFill>
                <a:latin typeface="Sora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87782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Sora"/>
              </a:rPr>
              <a:t>A business-friendly picture of how data moves through the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103120" cy="2240280"/>
          </a:xfrm>
          <a:prstGeom prst="rect">
            <a:avLst/>
          </a:prstGeom>
          <a:solidFill>
            <a:srgbClr val="EEF0F3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10312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21408"/>
            <a:ext cx="1737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0" i="0">
                <a:solidFill>
                  <a:srgbClr val="0C0C0C"/>
                </a:solidFill>
                <a:latin typeface="Sor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60320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22957"/>
                </a:solidFill>
                <a:latin typeface="Sora"/>
              </a:rPr>
              <a:t>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07792"/>
            <a:ext cx="17373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Ad platforms, planning systems, Google Sheets, Gmail attachments, and social source inputs.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2788920"/>
            <a:ext cx="292608" cy="5486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2103120" cy="2240280"/>
          </a:xfrm>
          <a:prstGeom prst="rect">
            <a:avLst/>
          </a:prstGeom>
          <a:solidFill>
            <a:srgbClr val="EEF0F3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828800"/>
            <a:ext cx="210312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121408"/>
            <a:ext cx="1737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0" i="0">
                <a:solidFill>
                  <a:srgbClr val="0C0C0C"/>
                </a:solidFill>
                <a:latin typeface="Sor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22957"/>
                </a:solidFill>
                <a:latin typeface="Sora"/>
              </a:rPr>
              <a:t>LANDING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907792"/>
            <a:ext cx="17373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BigQuery landing and shared source tables collect raw or lightly cleaned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2788920"/>
            <a:ext cx="292608" cy="5486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1828800"/>
            <a:ext cx="2103120" cy="2240280"/>
          </a:xfrm>
          <a:prstGeom prst="rect">
            <a:avLst/>
          </a:prstGeom>
          <a:solidFill>
            <a:srgbClr val="EEF0F3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0" y="1828800"/>
            <a:ext cx="210312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2" y="2121408"/>
            <a:ext cx="1737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0" i="0">
                <a:solidFill>
                  <a:srgbClr val="0C0C0C"/>
                </a:solidFill>
                <a:latin typeface="Sor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560320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22957"/>
                </a:solidFill>
                <a:latin typeface="Sora"/>
              </a:rPr>
              <a:t>MODELING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2907792"/>
            <a:ext cx="17373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Staging views and enrichment logic standardize fields, join metadata, and set reporting rules.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8352" y="2788920"/>
            <a:ext cx="292608" cy="54864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1828800"/>
            <a:ext cx="2103120" cy="2240280"/>
          </a:xfrm>
          <a:prstGeom prst="rect">
            <a:avLst/>
          </a:prstGeom>
          <a:solidFill>
            <a:srgbClr val="EEF0F3"/>
          </a:solidFill>
          <a:ln w="1587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210312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2121408"/>
            <a:ext cx="1737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0" i="0">
                <a:solidFill>
                  <a:srgbClr val="0C0C0C"/>
                </a:solidFill>
                <a:latin typeface="Sor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560320"/>
            <a:ext cx="1737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122957"/>
                </a:solidFill>
                <a:latin typeface="Sora"/>
              </a:rPr>
              <a:t>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2907792"/>
            <a:ext cx="173736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Final tables feed dashboards, QA checks, and stakeholder reporting.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54880"/>
            <a:ext cx="105156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0C0C0C"/>
                </a:solidFill>
                <a:latin typeface="Sora"/>
              </a:rPr>
              <a:t>Best simple explanation: we centralize messy source inputs in BigQuery, apply shared business logic once, and publish stable reporting tables for downstream use.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C0C0C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6E6E6E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2560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53035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AFAFA"/>
                </a:solidFill>
                <a:latin typeface="Sora"/>
              </a:rPr>
              <a:t>RAW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69494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3C3C3"/>
                </a:solidFill>
                <a:latin typeface="Sora"/>
              </a:rPr>
              <a:t>High-level view of how source data gets into BigQuery before reporting logic is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960120"/>
          </a:xfrm>
          <a:prstGeom prst="rect">
            <a:avLst/>
          </a:prstGeom>
          <a:noFill/>
          <a:ln w="158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822960" cy="9601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984248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Sor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920240"/>
            <a:ext cx="2926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AFAFA"/>
                </a:solidFill>
                <a:latin typeface="Sora"/>
              </a:rPr>
              <a:t>PLATFORM FEEDS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212848"/>
            <a:ext cx="89611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DCDCDC"/>
                </a:solidFill>
                <a:latin typeface="Sora"/>
              </a:rPr>
              <a:t>DCM cost model, Basis delivery, Prisma planning data, and paid-media source feeds land on a recurring cadence.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64240" cy="960120"/>
          </a:xfrm>
          <a:prstGeom prst="rect">
            <a:avLst/>
          </a:prstGeom>
          <a:noFill/>
          <a:ln w="158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822960" cy="9601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310128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Sor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246120"/>
            <a:ext cx="2926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AFAFA"/>
                </a:solidFill>
                <a:latin typeface="Sora"/>
              </a:rPr>
              <a:t>SPREADSHEET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3538728"/>
            <a:ext cx="89611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DCDCDC"/>
                </a:solidFill>
                <a:latin typeface="Sora"/>
              </a:rPr>
              <a:t>Google Sheets and trafficking files add first-party data, UTM mappings, TV estimates, and manual business corrections.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34840"/>
            <a:ext cx="11064240" cy="960120"/>
          </a:xfrm>
          <a:prstGeom prst="rect">
            <a:avLst/>
          </a:prstGeom>
          <a:noFill/>
          <a:ln w="15875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34840"/>
            <a:ext cx="822960" cy="96012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36007"/>
            <a:ext cx="457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Sor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572000"/>
            <a:ext cx="2926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AFAFA"/>
                </a:solidFill>
                <a:latin typeface="Sora"/>
              </a:rPr>
              <a:t>OPERATIONAL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864607"/>
            <a:ext cx="89611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DCDCDC"/>
                </a:solidFill>
                <a:latin typeface="Sora"/>
              </a:rPr>
              <a:t>Loader scripts, scheduled queries, and staging tables keep ingestion repeatable before downstream modeling.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AFAFA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A0A0A0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44200" y="365760"/>
            <a:ext cx="82296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43891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300" b="1" i="0">
                <a:solidFill>
                  <a:srgbClr val="0C0C0C"/>
                </a:solidFill>
                <a:latin typeface="Sora"/>
              </a:rPr>
              <a:t>ENRICHMENT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5156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033A0"/>
                </a:solidFill>
                <a:latin typeface="Sora"/>
              </a:rPr>
              <a:t>Matching, priority, and standardization turn raw delivery into stakeholder-ready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00200"/>
            <a:ext cx="128016" cy="56692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18488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C0C0C"/>
                </a:solidFill>
                <a:latin typeface="Sora"/>
              </a:rPr>
              <a:t>METADATA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600200"/>
            <a:ext cx="77724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Join delivery to campaign, placement, partner, and source metadata before final aggregation.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68880"/>
            <a:ext cx="128016" cy="56692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C0C0C"/>
                </a:solidFill>
                <a:latin typeface="Sora"/>
              </a:rPr>
              <a:t>GRAIN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468880"/>
            <a:ext cx="77724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Expand or aggregate inputs to common daily, package, placement, and reporting grains.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37560"/>
            <a:ext cx="128016" cy="56692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55848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C0C0C"/>
                </a:solidFill>
                <a:latin typeface="Sora"/>
              </a:rPr>
              <a:t>SOURCE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337560"/>
            <a:ext cx="77724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Prefer corrected first-party actuals over older actuals and delivery where stronger business truth exists.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206240"/>
            <a:ext cx="128016" cy="56692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24527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C0C0C"/>
                </a:solidFill>
                <a:latin typeface="Sora"/>
              </a:rPr>
              <a:t>UTM STANDARDIZATION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206240"/>
            <a:ext cx="77724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Normalize UTM tags and fallback keys so naming drift does not break attribution or grouping.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074920"/>
            <a:ext cx="128016" cy="566928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93207"/>
            <a:ext cx="2560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0C0C0C"/>
                </a:solidFill>
                <a:latin typeface="Sora"/>
              </a:rPr>
              <a:t>FINAL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5074920"/>
            <a:ext cx="777240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0C0C0C"/>
                </a:solidFill>
                <a:latin typeface="Sora"/>
              </a:rPr>
              <a:t>Publish standardized mart tables that dashboards and recurring reporting can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72200"/>
            <a:ext cx="104241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Sora"/>
              </a:rPr>
              <a:t>Example rule worth noting: in ADIF, actuals priority is updated FPD first, then original FPD, then DCM, and finally planned-only Prisma rows.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C0C0C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6E6E6E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2560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3931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AFAFA"/>
                </a:solidFill>
                <a:latin typeface="Sora"/>
              </a:rPr>
              <a:t>ADIF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3C3C3"/>
                </a:solidFill>
                <a:latin typeface="Sora"/>
              </a:rPr>
              <a:t>End-to-end flow from raw source tables to the live ADIF reporting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RAW CORE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DCM cost model, Prisma expanded plan, original FPD, and updated FPD.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BASE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adif__prisma_expanded_plus_dcm_view_v3_test joins DCM, Prisma, and original FPD.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9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UPDATED FPD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updated_fpd_view applies corrected package-level actuals as the highest-priority overlay.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SOCIAL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stg__adif__social_crossplatform plus pacing feeds social rows into the scheduled build.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19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19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FINAL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adif__mainDataTable_notebook_v2_test powers downstream ADIF reporting.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AFAFA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A0A0A0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35640" y="0"/>
            <a:ext cx="1353312" cy="25603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3931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AFAFA"/>
                </a:solidFill>
                <a:latin typeface="Sora"/>
              </a:rPr>
              <a:t>MFT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8686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3C3C3"/>
                </a:solidFill>
                <a:latin typeface="Sora"/>
              </a:rPr>
              <a:t>End-to-end path from DCM, Basis, and UTM inputs to the final MFT reporting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RAW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DCM cost model, Basis delivery, active UTMs, trafficking-sheet UTMs, and manual UTM corrections.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DCM STAGING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final_views.dcm and final_views.utms_view feed repo_stg.dcm_plus_utms.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9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BASIS 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basis_delivery and basis_plus_utms normalize delivery and parse UTMs into joinable reporting keys.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UNIONED MART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repo_mart.mft_view combines DCM and Basis branches with reporting filters.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19" y="1645920"/>
            <a:ext cx="2011680" cy="3383280"/>
          </a:xfrm>
          <a:prstGeom prst="rect">
            <a:avLst/>
          </a:prstGeom>
          <a:noFill/>
          <a:ln w="15875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19" y="1645920"/>
            <a:ext cx="2011680" cy="16459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901952"/>
            <a:ext cx="5486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0" i="0">
                <a:solidFill>
                  <a:srgbClr val="FAFAFA"/>
                </a:solidFill>
                <a:latin typeface="Sor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377440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AFAFA"/>
                </a:solidFill>
                <a:latin typeface="Sora"/>
              </a:rPr>
              <a:t>FINAL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816352"/>
            <a:ext cx="1700784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DCDCDC"/>
                </a:solidFill>
                <a:latin typeface="Sora"/>
              </a:rPr>
              <a:t>mft_data_current plus historical landing.mft build mass_mutual_mft_ext.mft_data.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AFAFA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A0A0A0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548640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0" i="0">
                <a:solidFill>
                  <a:srgbClr val="FAFAFA"/>
                </a:solidFill>
                <a:latin typeface="Sora"/>
              </a:rPr>
              <a:t>READY
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6492240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E6E6E6"/>
                </a:solidFill>
                <a:latin typeface="Sora"/>
              </a:rPr>
              <a:t>Centralized pipelines, reusable enrichment logic, and clearer lineage make the reporting stack easier to trust, extend, and explain.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1188720"/>
            <a:ext cx="2743200" cy="7315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51392" y="141732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C0C0C"/>
                </a:solidFill>
                <a:latin typeface="Sora"/>
              </a:rPr>
              <a:t>CENTRALIZED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2423160"/>
            <a:ext cx="2743200" cy="7315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265176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C0C0C"/>
                </a:solidFill>
                <a:latin typeface="Sora"/>
              </a:rPr>
              <a:t>REUSABLE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3657600"/>
            <a:ext cx="2743200" cy="73152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3886200"/>
            <a:ext cx="21945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C0C0C"/>
                </a:solidFill>
                <a:latin typeface="Sora"/>
              </a:rPr>
              <a:t>TRACEABLE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0"/>
            <a:ext cx="36576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FAFAFA"/>
                </a:solidFill>
                <a:latin typeface="Sora"/>
              </a:rPr>
              <a:t>GIANT SPOON x INTERNAL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291072"/>
            <a:ext cx="292608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 i="0">
                <a:solidFill>
                  <a:srgbClr val="A0A0A0"/>
                </a:solidFill>
                <a:latin typeface="Sora"/>
              </a:rPr>
              <a:t>CONFIDENTIAL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